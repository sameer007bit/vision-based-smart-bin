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27432000" cy="45720000"/>
  <p:notesSz cx="7004050" cy="9290050"/>
  <p:defaultTex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400">
          <p15:clr>
            <a:srgbClr val="A4A3A4"/>
          </p15:clr>
        </p15:guide>
        <p15:guide id="2" pos="86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485" autoAdjust="0"/>
    <p:restoredTop sz="94676" autoAdjust="0"/>
  </p:normalViewPr>
  <p:slideViewPr>
    <p:cSldViewPr>
      <p:cViewPr>
        <p:scale>
          <a:sx n="40" d="100"/>
          <a:sy n="40" d="100"/>
        </p:scale>
        <p:origin x="-762" y="-7122"/>
      </p:cViewPr>
      <p:guideLst>
        <p:guide orient="horz" pos="14400"/>
        <p:guide pos="86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2" name="Rectangle 11"/>
          <p:cNvSpPr/>
          <p:nvPr userDrawn="1"/>
        </p:nvSpPr>
        <p:spPr>
          <a:xfrm>
            <a:off x="26700480" y="0"/>
            <a:ext cx="731520" cy="402336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p:cNvSpPr/>
          <p:nvPr userDrawn="1"/>
        </p:nvSpPr>
        <p:spPr>
          <a:xfrm>
            <a:off x="0" y="0"/>
            <a:ext cx="731520" cy="402336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p:cNvSpPr/>
          <p:nvPr userDrawn="1"/>
        </p:nvSpPr>
        <p:spPr>
          <a:xfrm>
            <a:off x="0" y="0"/>
            <a:ext cx="27432000" cy="54864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p:cNvSpPr/>
          <p:nvPr userDrawn="1"/>
        </p:nvSpPr>
        <p:spPr>
          <a:xfrm>
            <a:off x="0" y="40233600"/>
            <a:ext cx="27432000" cy="54864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Instructions"/>
          <p:cNvSpPr/>
          <p:nvPr userDrawn="1"/>
        </p:nvSpPr>
        <p:spPr>
          <a:xfrm>
            <a:off x="-13716000" y="0"/>
            <a:ext cx="12801600" cy="45720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28600" tIns="228600" rIns="228600" bIns="228600"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2400"/>
              </a:spcAft>
            </a:pPr>
            <a:r>
              <a:rPr lang="en-US" sz="9600" dirty="0">
                <a:solidFill>
                  <a:srgbClr val="7F7F7F"/>
                </a:solidFill>
                <a:latin typeface="Calibri" pitchFamily="34" charset="0"/>
                <a:cs typeface="Calibri" panose="020F0502020204030204" pitchFamily="34" charset="0"/>
              </a:rPr>
              <a:t>Poster Print Size:</a:t>
            </a:r>
            <a:endParaRPr sz="9600" dirty="0">
              <a:solidFill>
                <a:srgbClr val="7F7F7F"/>
              </a:solidFill>
              <a:latin typeface="Calibri" pitchFamily="34" charset="0"/>
              <a:cs typeface="Calibri" panose="020F0502020204030204" pitchFamily="34" charset="0"/>
            </a:endParaRPr>
          </a:p>
          <a:p>
            <a:pPr lvl="0">
              <a:spcBef>
                <a:spcPts val="0"/>
              </a:spcBef>
              <a:spcAft>
                <a:spcPts val="2400"/>
              </a:spcAft>
            </a:pPr>
            <a:r>
              <a:rPr lang="en-US" sz="6600" dirty="0">
                <a:solidFill>
                  <a:srgbClr val="7F7F7F"/>
                </a:solidFill>
                <a:latin typeface="Calibri" pitchFamily="34" charset="0"/>
                <a:cs typeface="Calibri" panose="020F0502020204030204" pitchFamily="34" charset="0"/>
              </a:rPr>
              <a:t>This poster template is 50” high by 30” wide and is printed at 120% for a 60” high by 36” wide poster. It can be used to print any poster with a 5:3 aspect ratio.</a:t>
            </a:r>
          </a:p>
          <a:p>
            <a:pPr lvl="0">
              <a:spcBef>
                <a:spcPts val="0"/>
              </a:spcBef>
              <a:spcAft>
                <a:spcPts val="2400"/>
              </a:spcAft>
            </a:pPr>
            <a:r>
              <a:rPr lang="en-US" sz="9600" dirty="0">
                <a:solidFill>
                  <a:srgbClr val="7F7F7F"/>
                </a:solidFill>
                <a:latin typeface="Calibri" pitchFamily="34" charset="0"/>
                <a:cs typeface="Calibri" panose="020F0502020204030204" pitchFamily="34" charset="0"/>
              </a:rPr>
              <a:t>Placeholders</a:t>
            </a:r>
            <a:r>
              <a:rPr sz="9600" dirty="0">
                <a:solidFill>
                  <a:srgbClr val="7F7F7F"/>
                </a:solidFill>
                <a:latin typeface="Calibri" pitchFamily="34" charset="0"/>
                <a:cs typeface="Calibri" panose="020F0502020204030204" pitchFamily="34" charset="0"/>
              </a:rPr>
              <a:t>:</a:t>
            </a:r>
          </a:p>
          <a:p>
            <a:pPr lvl="0">
              <a:spcBef>
                <a:spcPts val="0"/>
              </a:spcBef>
              <a:spcAft>
                <a:spcPts val="2400"/>
              </a:spcAft>
            </a:pPr>
            <a:r>
              <a:rPr sz="6600" dirty="0">
                <a:solidFill>
                  <a:srgbClr val="7F7F7F"/>
                </a:solidFill>
                <a:latin typeface="Calibri" pitchFamily="34" charset="0"/>
                <a:cs typeface="Calibri" panose="020F0502020204030204" pitchFamily="34" charset="0"/>
              </a:rPr>
              <a:t>The </a:t>
            </a:r>
            <a:r>
              <a:rPr lang="en-US" sz="6600" dirty="0">
                <a:solidFill>
                  <a:srgbClr val="7F7F7F"/>
                </a:solidFill>
                <a:latin typeface="Calibri" pitchFamily="34" charset="0"/>
                <a:cs typeface="Calibri" panose="020F0502020204030204" pitchFamily="34" charset="0"/>
              </a:rPr>
              <a:t>various elements included</a:t>
            </a:r>
            <a:r>
              <a:rPr sz="6600" dirty="0">
                <a:solidFill>
                  <a:srgbClr val="7F7F7F"/>
                </a:solidFill>
                <a:latin typeface="Calibri" pitchFamily="34" charset="0"/>
                <a:cs typeface="Calibri" panose="020F0502020204030204" pitchFamily="34" charset="0"/>
              </a:rPr>
              <a:t> in this </a:t>
            </a:r>
            <a:r>
              <a:rPr lang="en-US" sz="6600" dirty="0">
                <a:solidFill>
                  <a:srgbClr val="7F7F7F"/>
                </a:solidFill>
                <a:latin typeface="Calibri" pitchFamily="34" charset="0"/>
                <a:cs typeface="Calibri" panose="020F0502020204030204" pitchFamily="34" charset="0"/>
              </a:rPr>
              <a:t>poster are ones</a:t>
            </a:r>
            <a:r>
              <a:rPr lang="en-US" sz="6600" baseline="0" dirty="0">
                <a:solidFill>
                  <a:srgbClr val="7F7F7F"/>
                </a:solidFill>
                <a:latin typeface="Calibri" pitchFamily="34" charset="0"/>
                <a:cs typeface="Calibri" panose="020F0502020204030204" pitchFamily="34" charset="0"/>
              </a:rPr>
              <a:t> we often see in medical, research, and scientific posters.</a:t>
            </a:r>
            <a:r>
              <a:rPr sz="6600" dirty="0">
                <a:solidFill>
                  <a:srgbClr val="7F7F7F"/>
                </a:solidFill>
                <a:latin typeface="Calibri" pitchFamily="34" charset="0"/>
                <a:cs typeface="Calibri" panose="020F0502020204030204" pitchFamily="34" charset="0"/>
              </a:rPr>
              <a:t> </a:t>
            </a:r>
            <a:r>
              <a:rPr lang="en-US" sz="6600" dirty="0">
                <a:solidFill>
                  <a:srgbClr val="7F7F7F"/>
                </a:solidFill>
                <a:latin typeface="Calibri" pitchFamily="34" charset="0"/>
                <a:cs typeface="Calibri" panose="020F0502020204030204" pitchFamily="34" charset="0"/>
              </a:rPr>
              <a:t>Feel</a:t>
            </a:r>
            <a:r>
              <a:rPr lang="en-US" sz="6600" baseline="0" dirty="0">
                <a:solidFill>
                  <a:srgbClr val="7F7F7F"/>
                </a:solidFill>
                <a:latin typeface="Calibri" pitchFamily="34" charset="0"/>
                <a:cs typeface="Calibri" panose="020F0502020204030204" pitchFamily="34" charset="0"/>
              </a:rPr>
              <a:t> free to edit, move,  add, and delete items, or change the layout to suit your needs. Always check with your conference organizer for specific requirements.</a:t>
            </a:r>
          </a:p>
          <a:p>
            <a:pPr lvl="0">
              <a:spcBef>
                <a:spcPts val="0"/>
              </a:spcBef>
              <a:spcAft>
                <a:spcPts val="2400"/>
              </a:spcAft>
            </a:pPr>
            <a:r>
              <a:rPr lang="en-US" sz="9600" dirty="0">
                <a:solidFill>
                  <a:srgbClr val="7F7F7F"/>
                </a:solidFill>
                <a:latin typeface="Calibri" pitchFamily="34" charset="0"/>
                <a:cs typeface="Calibri" panose="020F0502020204030204" pitchFamily="34" charset="0"/>
              </a:rPr>
              <a:t>Image</a:t>
            </a:r>
            <a:r>
              <a:rPr lang="en-US" sz="9600" baseline="0" dirty="0">
                <a:solidFill>
                  <a:srgbClr val="7F7F7F"/>
                </a:solidFill>
                <a:latin typeface="Calibri" pitchFamily="34" charset="0"/>
                <a:cs typeface="Calibri" panose="020F0502020204030204" pitchFamily="34" charset="0"/>
              </a:rPr>
              <a:t> Quality</a:t>
            </a:r>
            <a:r>
              <a:rPr lang="en-US" sz="9600" dirty="0">
                <a:solidFill>
                  <a:srgbClr val="7F7F7F"/>
                </a:solidFill>
                <a:latin typeface="Calibri" pitchFamily="34" charset="0"/>
                <a:cs typeface="Calibri" panose="020F0502020204030204" pitchFamily="34" charset="0"/>
              </a:rPr>
              <a:t>:</a:t>
            </a:r>
          </a:p>
          <a:p>
            <a:pPr lvl="0">
              <a:spcBef>
                <a:spcPts val="0"/>
              </a:spcBef>
              <a:spcAft>
                <a:spcPts val="2400"/>
              </a:spcAft>
            </a:pPr>
            <a:r>
              <a:rPr lang="en-US" sz="6600" dirty="0">
                <a:solidFill>
                  <a:srgbClr val="7F7F7F"/>
                </a:solidFill>
                <a:latin typeface="Calibri" pitchFamily="34" charset="0"/>
                <a:cs typeface="Calibri" panose="020F0502020204030204" pitchFamily="34" charset="0"/>
              </a:rPr>
              <a:t>You can place digital photos or logo art in your poster file by selecting the </a:t>
            </a:r>
            <a:r>
              <a:rPr lang="en-US" sz="6600" b="1" dirty="0">
                <a:solidFill>
                  <a:srgbClr val="7F7F7F"/>
                </a:solidFill>
                <a:latin typeface="Calibri" pitchFamily="34" charset="0"/>
                <a:cs typeface="Calibri" panose="020F0502020204030204" pitchFamily="34" charset="0"/>
              </a:rPr>
              <a:t>Insert, Picture</a:t>
            </a:r>
            <a:r>
              <a:rPr lang="en-US" sz="6600" dirty="0">
                <a:solidFill>
                  <a:srgbClr val="7F7F7F"/>
                </a:solidFill>
                <a:latin typeface="Calibri" pitchFamily="34" charset="0"/>
                <a:cs typeface="Calibri" panose="020F0502020204030204" pitchFamily="34" charset="0"/>
              </a:rPr>
              <a:t> command, or by using standard copy &amp; paste. For best results, all graphic elements should be at least </a:t>
            </a:r>
            <a:r>
              <a:rPr lang="en-US" sz="6600" b="1" dirty="0">
                <a:solidFill>
                  <a:srgbClr val="7F7F7F"/>
                </a:solidFill>
                <a:latin typeface="Calibri" pitchFamily="34" charset="0"/>
                <a:cs typeface="Calibri" panose="020F0502020204030204" pitchFamily="34" charset="0"/>
              </a:rPr>
              <a:t>150-200 pixels per inch in their final printed size</a:t>
            </a:r>
            <a:r>
              <a:rPr lang="en-US" sz="6600" dirty="0">
                <a:solidFill>
                  <a:srgbClr val="7F7F7F"/>
                </a:solidFill>
                <a:latin typeface="Calibri" pitchFamily="34" charset="0"/>
                <a:cs typeface="Calibri" panose="020F0502020204030204" pitchFamily="34" charset="0"/>
              </a:rPr>
              <a:t>. For instance, a 1600 x 1200 pixel</a:t>
            </a:r>
            <a:r>
              <a:rPr lang="en-US" sz="6600" baseline="0" dirty="0">
                <a:solidFill>
                  <a:srgbClr val="7F7F7F"/>
                </a:solidFill>
                <a:latin typeface="Calibri" pitchFamily="34" charset="0"/>
                <a:cs typeface="Calibri" panose="020F0502020204030204" pitchFamily="34" charset="0"/>
              </a:rPr>
              <a:t> photo will usually look fine up to </a:t>
            </a:r>
            <a:r>
              <a:rPr lang="en-US" sz="6600" dirty="0">
                <a:solidFill>
                  <a:srgbClr val="7F7F7F"/>
                </a:solidFill>
                <a:latin typeface="Calibri" pitchFamily="34" charset="0"/>
                <a:cs typeface="Calibri" panose="020F0502020204030204" pitchFamily="34" charset="0"/>
              </a:rPr>
              <a:t>8“-10” wide on your printed poster.</a:t>
            </a:r>
          </a:p>
          <a:p>
            <a:pPr lvl="0">
              <a:spcBef>
                <a:spcPts val="0"/>
              </a:spcBef>
              <a:spcAft>
                <a:spcPts val="2400"/>
              </a:spcAft>
            </a:pPr>
            <a:r>
              <a:rPr lang="en-US" sz="6600" dirty="0">
                <a:solidFill>
                  <a:srgbClr val="7F7F7F"/>
                </a:solidFill>
                <a:latin typeface="Calibri" pitchFamily="34" charset="0"/>
                <a:cs typeface="Calibri" panose="020F0502020204030204" pitchFamily="34" charset="0"/>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p>
          <a:p>
            <a:pPr lvl="0">
              <a:spcBef>
                <a:spcPts val="0"/>
              </a:spcBef>
              <a:spcAft>
                <a:spcPts val="2400"/>
              </a:spcAft>
            </a:pPr>
            <a:r>
              <a:rPr lang="en-US" sz="6600" dirty="0">
                <a:solidFill>
                  <a:srgbClr val="7F7F7F"/>
                </a:solidFill>
                <a:latin typeface="Calibri" pitchFamily="34" charset="0"/>
                <a:cs typeface="Calibri" panose="020F0502020204030204" pitchFamily="34" charset="0"/>
              </a:rPr>
              <a:t>Please note that graphics from websites (such as the logo on your hospital's or university's home page) will only be 72dpi and not suitable for printing.</a:t>
            </a:r>
          </a:p>
          <a:p>
            <a:pPr lvl="0" algn="ctr">
              <a:spcBef>
                <a:spcPts val="0"/>
              </a:spcBef>
              <a:spcAft>
                <a:spcPts val="2400"/>
              </a:spcAft>
            </a:pPr>
            <a:r>
              <a:rPr lang="en-US" sz="1200" dirty="0">
                <a:solidFill>
                  <a:srgbClr val="7F7F7F"/>
                </a:solidFill>
                <a:latin typeface="Calibri" pitchFamily="34" charset="0"/>
                <a:cs typeface="Calibri" panose="020F0502020204030204" pitchFamily="34" charset="0"/>
              </a:rPr>
              <a:t> </a:t>
            </a:r>
            <a:r>
              <a:rPr lang="en-US" sz="4800" dirty="0">
                <a:solidFill>
                  <a:srgbClr val="7F7F7F"/>
                </a:solidFill>
                <a:latin typeface="Calibri" pitchFamily="34" charset="0"/>
                <a:cs typeface="Calibri" panose="020F0502020204030204" pitchFamily="34" charset="0"/>
              </a:rPr>
              <a:t/>
            </a:r>
            <a:br>
              <a:rPr lang="en-US" sz="4800" dirty="0">
                <a:solidFill>
                  <a:srgbClr val="7F7F7F"/>
                </a:solidFill>
                <a:latin typeface="Calibri" pitchFamily="34" charset="0"/>
                <a:cs typeface="Calibri" panose="020F0502020204030204" pitchFamily="34" charset="0"/>
              </a:rPr>
            </a:br>
            <a:r>
              <a:rPr lang="en-US" sz="4800" dirty="0">
                <a:solidFill>
                  <a:srgbClr val="7F7F7F"/>
                </a:solidFill>
                <a:latin typeface="Calibri" pitchFamily="34" charset="0"/>
                <a:cs typeface="Calibri" panose="020F0502020204030204" pitchFamily="34" charset="0"/>
              </a:rPr>
              <a:t>[This sidebar area does not print.]</a:t>
            </a:r>
          </a:p>
        </p:txBody>
      </p:sp>
      <p:grpSp>
        <p:nvGrpSpPr>
          <p:cNvPr id="20" name="Group 19"/>
          <p:cNvGrpSpPr/>
          <p:nvPr userDrawn="1"/>
        </p:nvGrpSpPr>
        <p:grpSpPr>
          <a:xfrm>
            <a:off x="28346400" y="0"/>
            <a:ext cx="12801600" cy="45720000"/>
            <a:chOff x="33832800" y="0"/>
            <a:chExt cx="12801600" cy="43891200"/>
          </a:xfrm>
        </p:grpSpPr>
        <p:sp>
          <p:nvSpPr>
            <p:cNvPr id="21" name="Instructions"/>
            <p:cNvSpPr/>
            <p:nvPr userDrawn="1"/>
          </p:nvSpPr>
          <p:spPr>
            <a:xfrm>
              <a:off x="33832800" y="0"/>
              <a:ext cx="12801600" cy="438912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28600" tIns="228600" rIns="228600" bIns="228600"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2400"/>
                </a:spcAft>
              </a:pPr>
              <a:r>
                <a:rPr lang="en-US" sz="9600" dirty="0">
                  <a:solidFill>
                    <a:schemeClr val="bg1">
                      <a:lumMod val="50000"/>
                    </a:schemeClr>
                  </a:solidFill>
                  <a:latin typeface="Calibri" pitchFamily="34" charset="0"/>
                  <a:cs typeface="Calibri" panose="020F0502020204030204" pitchFamily="34" charset="0"/>
                </a:rPr>
                <a:t>Change</a:t>
              </a:r>
              <a:r>
                <a:rPr lang="en-US" sz="9600" baseline="0" dirty="0">
                  <a:solidFill>
                    <a:schemeClr val="bg1">
                      <a:lumMod val="50000"/>
                    </a:schemeClr>
                  </a:solidFill>
                  <a:latin typeface="Calibri" pitchFamily="34" charset="0"/>
                  <a:cs typeface="Calibri" panose="020F0502020204030204" pitchFamily="34" charset="0"/>
                </a:rPr>
                <a:t> Color Theme</a:t>
              </a:r>
              <a:r>
                <a:rPr lang="en-US" sz="9600" dirty="0">
                  <a:solidFill>
                    <a:schemeClr val="bg1">
                      <a:lumMod val="50000"/>
                    </a:schemeClr>
                  </a:solidFill>
                  <a:latin typeface="Calibri" pitchFamily="34" charset="0"/>
                  <a:cs typeface="Calibri" panose="020F0502020204030204" pitchFamily="34" charset="0"/>
                </a:rPr>
                <a:t>:</a:t>
              </a:r>
              <a:endParaRPr sz="9600" dirty="0">
                <a:solidFill>
                  <a:schemeClr val="bg1">
                    <a:lumMod val="50000"/>
                  </a:schemeClr>
                </a:solidFill>
                <a:latin typeface="Calibri" pitchFamily="34" charset="0"/>
                <a:cs typeface="Calibri" panose="020F0502020204030204" pitchFamily="34" charset="0"/>
              </a:endParaRPr>
            </a:p>
            <a:p>
              <a:pPr lvl="0">
                <a:spcBef>
                  <a:spcPts val="0"/>
                </a:spcBef>
                <a:spcAft>
                  <a:spcPts val="2400"/>
                </a:spcAft>
              </a:pPr>
              <a:r>
                <a:rPr lang="en-US" sz="6600" dirty="0">
                  <a:solidFill>
                    <a:schemeClr val="bg1">
                      <a:lumMod val="50000"/>
                    </a:schemeClr>
                  </a:solidFill>
                  <a:latin typeface="Calibri" pitchFamily="34" charset="0"/>
                  <a:cs typeface="Calibri" panose="020F0502020204030204" pitchFamily="34" charset="0"/>
                </a:rPr>
                <a:t>This template is designed to use the built-in color themes in</a:t>
              </a:r>
              <a:r>
                <a:rPr lang="en-US" sz="6600" baseline="0" dirty="0">
                  <a:solidFill>
                    <a:schemeClr val="bg1">
                      <a:lumMod val="50000"/>
                    </a:schemeClr>
                  </a:solidFill>
                  <a:latin typeface="Calibri" pitchFamily="34" charset="0"/>
                  <a:cs typeface="Calibri" panose="020F0502020204030204" pitchFamily="34" charset="0"/>
                </a:rPr>
                <a:t> the newer versions of PowerPoint.</a:t>
              </a:r>
            </a:p>
            <a:p>
              <a:pPr lvl="0">
                <a:spcBef>
                  <a:spcPts val="0"/>
                </a:spcBef>
                <a:spcAft>
                  <a:spcPts val="2400"/>
                </a:spcAft>
              </a:pPr>
              <a:r>
                <a:rPr lang="en-US" sz="6600" baseline="0" dirty="0">
                  <a:solidFill>
                    <a:schemeClr val="bg1">
                      <a:lumMod val="50000"/>
                    </a:schemeClr>
                  </a:solidFill>
                  <a:latin typeface="Calibri" pitchFamily="34" charset="0"/>
                  <a:cs typeface="Calibri" panose="020F0502020204030204" pitchFamily="34" charset="0"/>
                </a:rPr>
                <a:t>To change the color theme, select the </a:t>
              </a:r>
              <a:r>
                <a:rPr lang="en-US" sz="6600" b="1" baseline="0" dirty="0">
                  <a:solidFill>
                    <a:schemeClr val="bg1">
                      <a:lumMod val="50000"/>
                    </a:schemeClr>
                  </a:solidFill>
                  <a:latin typeface="Calibri" pitchFamily="34" charset="0"/>
                  <a:cs typeface="Calibri" panose="020F0502020204030204" pitchFamily="34" charset="0"/>
                </a:rPr>
                <a:t>Design</a:t>
              </a:r>
              <a:r>
                <a:rPr lang="en-US" sz="6600" baseline="0" dirty="0">
                  <a:solidFill>
                    <a:schemeClr val="bg1">
                      <a:lumMod val="50000"/>
                    </a:schemeClr>
                  </a:solidFill>
                  <a:latin typeface="Calibri" pitchFamily="34" charset="0"/>
                  <a:cs typeface="Calibri" panose="020F0502020204030204" pitchFamily="34" charset="0"/>
                </a:rPr>
                <a:t> tab, then select the </a:t>
              </a:r>
              <a:r>
                <a:rPr lang="en-US" sz="6600" b="1" baseline="0" dirty="0">
                  <a:solidFill>
                    <a:schemeClr val="bg1">
                      <a:lumMod val="50000"/>
                    </a:schemeClr>
                  </a:solidFill>
                  <a:latin typeface="Calibri" pitchFamily="34" charset="0"/>
                  <a:cs typeface="Calibri" panose="020F0502020204030204" pitchFamily="34" charset="0"/>
                </a:rPr>
                <a:t>Colors</a:t>
              </a:r>
              <a:r>
                <a:rPr lang="en-US" sz="6600" baseline="0" dirty="0">
                  <a:solidFill>
                    <a:schemeClr val="bg1">
                      <a:lumMod val="50000"/>
                    </a:schemeClr>
                  </a:solidFill>
                  <a:latin typeface="Calibri" pitchFamily="34" charset="0"/>
                  <a:cs typeface="Calibri" panose="020F0502020204030204" pitchFamily="34" charset="0"/>
                </a:rPr>
                <a:t> drop-down list.</a:t>
              </a:r>
            </a:p>
            <a:p>
              <a:pPr lvl="0">
                <a:spcBef>
                  <a:spcPts val="0"/>
                </a:spcBef>
                <a:spcAft>
                  <a:spcPts val="2400"/>
                </a:spcAft>
              </a:pPr>
              <a:endParaRPr lang="en-US" sz="66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400"/>
                </a:spcAft>
              </a:pPr>
              <a:endParaRPr lang="en-US" sz="66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400"/>
                </a:spcAft>
              </a:pPr>
              <a:endParaRPr lang="en-US" sz="66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400"/>
                </a:spcAft>
              </a:pPr>
              <a:endParaRPr lang="en-US" sz="66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400"/>
                </a:spcAft>
              </a:pPr>
              <a:endParaRPr lang="en-US" sz="66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400"/>
                </a:spcAft>
              </a:pPr>
              <a:endParaRPr lang="en-US" sz="66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400"/>
                </a:spcAft>
              </a:pPr>
              <a:endParaRPr lang="en-US" sz="66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400"/>
                </a:spcAft>
              </a:pPr>
              <a:endParaRPr lang="en-US" sz="66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400"/>
                </a:spcAft>
              </a:pPr>
              <a:endParaRPr lang="en-US" sz="66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2400"/>
                </a:spcAft>
              </a:pPr>
              <a:r>
                <a:rPr lang="en-US" sz="6600" baseline="0" dirty="0">
                  <a:solidFill>
                    <a:schemeClr val="bg1">
                      <a:lumMod val="50000"/>
                    </a:schemeClr>
                  </a:solidFill>
                  <a:latin typeface="Calibri" pitchFamily="34" charset="0"/>
                  <a:cs typeface="Calibri" panose="020F0502020204030204" pitchFamily="34" charset="0"/>
                </a:rPr>
                <a:t>The default color theme for this template is “Office”, so you can always return to that after trying some of the alternatives.</a:t>
              </a:r>
            </a:p>
            <a:p>
              <a:pPr lvl="0">
                <a:spcBef>
                  <a:spcPts val="0"/>
                </a:spcBef>
                <a:spcAft>
                  <a:spcPts val="2400"/>
                </a:spcAft>
              </a:pPr>
              <a:r>
                <a:rPr lang="en-US" sz="9600" dirty="0">
                  <a:solidFill>
                    <a:schemeClr val="bg1">
                      <a:lumMod val="50000"/>
                    </a:schemeClr>
                  </a:solidFill>
                  <a:latin typeface="Calibri" pitchFamily="34" charset="0"/>
                  <a:cs typeface="Calibri" panose="020F0502020204030204" pitchFamily="34" charset="0"/>
                </a:rPr>
                <a:t>Printing Your Poster:</a:t>
              </a:r>
            </a:p>
            <a:p>
              <a:pPr lvl="0">
                <a:spcBef>
                  <a:spcPts val="0"/>
                </a:spcBef>
                <a:spcAft>
                  <a:spcPts val="2400"/>
                </a:spcAft>
              </a:pPr>
              <a:r>
                <a:rPr lang="en-US" sz="6600" dirty="0">
                  <a:solidFill>
                    <a:schemeClr val="bg1">
                      <a:lumMod val="50000"/>
                    </a:schemeClr>
                  </a:solidFill>
                  <a:latin typeface="Calibri" pitchFamily="34" charset="0"/>
                  <a:cs typeface="Calibri" panose="020F0502020204030204" pitchFamily="34" charset="0"/>
                </a:rPr>
                <a:t>Once your poster file is ready, visit</a:t>
              </a:r>
              <a:r>
                <a:rPr lang="en-US" sz="6600" baseline="0" dirty="0">
                  <a:solidFill>
                    <a:schemeClr val="bg1">
                      <a:lumMod val="50000"/>
                    </a:schemeClr>
                  </a:solidFill>
                  <a:latin typeface="Calibri" pitchFamily="34" charset="0"/>
                  <a:cs typeface="Calibri" panose="020F0502020204030204" pitchFamily="34" charset="0"/>
                </a:rPr>
                <a:t> </a:t>
              </a:r>
              <a:r>
                <a:rPr lang="en-US" sz="6600" b="1" baseline="0" dirty="0">
                  <a:solidFill>
                    <a:schemeClr val="bg1">
                      <a:lumMod val="50000"/>
                    </a:schemeClr>
                  </a:solidFill>
                  <a:latin typeface="Calibri" pitchFamily="34" charset="0"/>
                  <a:cs typeface="Calibri" panose="020F0502020204030204" pitchFamily="34" charset="0"/>
                </a:rPr>
                <a:t>www.genigraphics.com</a:t>
              </a:r>
              <a:r>
                <a:rPr lang="en-US" sz="6600" baseline="0" dirty="0">
                  <a:solidFill>
                    <a:schemeClr val="bg1">
                      <a:lumMod val="50000"/>
                    </a:schemeClr>
                  </a:solidFill>
                  <a:latin typeface="Calibri" pitchFamily="34" charset="0"/>
                  <a:cs typeface="Calibri" panose="020F0502020204030204" pitchFamily="34" charset="0"/>
                </a:rPr>
                <a:t> to order a high-quality, affordable poster print. Every order receives a free design review and we can deliver as fast as next business day within the US and Canada. </a:t>
              </a:r>
            </a:p>
            <a:p>
              <a:pPr lvl="0">
                <a:spcBef>
                  <a:spcPts val="0"/>
                </a:spcBef>
                <a:spcAft>
                  <a:spcPts val="2400"/>
                </a:spcAft>
              </a:pPr>
              <a:r>
                <a:rPr lang="en-US" sz="6600" baseline="0" dirty="0">
                  <a:solidFill>
                    <a:schemeClr val="bg1">
                      <a:lumMod val="50000"/>
                    </a:schemeClr>
                  </a:solidFill>
                  <a:latin typeface="Calibri" pitchFamily="34" charset="0"/>
                  <a:cs typeface="Calibri" panose="020F0502020204030204" pitchFamily="34" charset="0"/>
                </a:rPr>
                <a:t>Genigraphics® has been producing output from PowerPoint® longer than anyone in the industry; dating back to when we helped Microsoft® design the PowerPoint software. </a:t>
              </a:r>
            </a:p>
            <a:p>
              <a:pPr lvl="0">
                <a:spcBef>
                  <a:spcPts val="0"/>
                </a:spcBef>
                <a:spcAft>
                  <a:spcPts val="0"/>
                </a:spcAft>
              </a:pPr>
              <a:endParaRPr lang="en-US" sz="6600" baseline="0" dirty="0">
                <a:solidFill>
                  <a:schemeClr val="bg1">
                    <a:lumMod val="50000"/>
                  </a:schemeClr>
                </a:solidFill>
                <a:latin typeface="Calibri" pitchFamily="34" charset="0"/>
                <a:cs typeface="Calibri" panose="020F0502020204030204" pitchFamily="34" charset="0"/>
              </a:endParaRPr>
            </a:p>
            <a:p>
              <a:pPr lvl="0" algn="ctr">
                <a:spcBef>
                  <a:spcPts val="0"/>
                </a:spcBef>
                <a:spcAft>
                  <a:spcPts val="0"/>
                </a:spcAft>
              </a:pPr>
              <a:r>
                <a:rPr lang="en-US" sz="6600" baseline="0" dirty="0">
                  <a:solidFill>
                    <a:schemeClr val="bg1">
                      <a:lumMod val="50000"/>
                    </a:schemeClr>
                  </a:solidFill>
                  <a:latin typeface="Calibri" pitchFamily="34" charset="0"/>
                  <a:cs typeface="Calibri" panose="020F0502020204030204" pitchFamily="34" charset="0"/>
                </a:rPr>
                <a:t>US and Canada:  1-800-790-4001</a:t>
              </a:r>
              <a:br>
                <a:rPr lang="en-US" sz="6600" baseline="0" dirty="0">
                  <a:solidFill>
                    <a:schemeClr val="bg1">
                      <a:lumMod val="50000"/>
                    </a:schemeClr>
                  </a:solidFill>
                  <a:latin typeface="Calibri" pitchFamily="34" charset="0"/>
                  <a:cs typeface="Calibri" panose="020F0502020204030204" pitchFamily="34" charset="0"/>
                </a:rPr>
              </a:br>
              <a:r>
                <a:rPr lang="en-US" sz="6600" baseline="0" dirty="0">
                  <a:solidFill>
                    <a:schemeClr val="bg1">
                      <a:lumMod val="50000"/>
                    </a:schemeClr>
                  </a:solidFill>
                  <a:latin typeface="Calibri" pitchFamily="34" charset="0"/>
                  <a:cs typeface="Calibri" panose="020F0502020204030204" pitchFamily="34" charset="0"/>
                </a:rPr>
                <a:t>Email: info@genigraphics.com</a:t>
              </a:r>
            </a:p>
            <a:p>
              <a:pPr lvl="0" algn="ctr">
                <a:spcBef>
                  <a:spcPts val="0"/>
                </a:spcBef>
                <a:spcAft>
                  <a:spcPts val="0"/>
                </a:spcAft>
              </a:pPr>
              <a:endParaRPr lang="en-US" sz="4800" dirty="0">
                <a:solidFill>
                  <a:schemeClr val="bg1">
                    <a:lumMod val="50000"/>
                  </a:schemeClr>
                </a:solidFill>
                <a:latin typeface="Calibri" pitchFamily="34" charset="0"/>
                <a:cs typeface="Calibri" panose="020F0502020204030204" pitchFamily="34" charset="0"/>
              </a:endParaRPr>
            </a:p>
            <a:p>
              <a:pPr lvl="0" algn="ctr">
                <a:spcBef>
                  <a:spcPts val="0"/>
                </a:spcBef>
                <a:spcAft>
                  <a:spcPts val="0"/>
                </a:spcAft>
              </a:pPr>
              <a:endParaRPr lang="en-US" sz="4800" dirty="0">
                <a:solidFill>
                  <a:schemeClr val="bg1">
                    <a:lumMod val="50000"/>
                  </a:schemeClr>
                </a:solidFill>
                <a:latin typeface="Calibri" pitchFamily="34" charset="0"/>
                <a:cs typeface="Calibri" panose="020F0502020204030204" pitchFamily="34" charset="0"/>
              </a:endParaRPr>
            </a:p>
            <a:p>
              <a:pPr lvl="0" algn="ctr">
                <a:spcBef>
                  <a:spcPts val="0"/>
                </a:spcBef>
                <a:spcAft>
                  <a:spcPts val="0"/>
                </a:spcAft>
              </a:pPr>
              <a:r>
                <a:rPr lang="en-US" sz="4800" dirty="0">
                  <a:solidFill>
                    <a:schemeClr val="bg1">
                      <a:lumMod val="50000"/>
                    </a:schemeClr>
                  </a:solidFill>
                  <a:latin typeface="Calibri" pitchFamily="34" charset="0"/>
                  <a:cs typeface="Calibri" panose="020F0502020204030204" pitchFamily="34" charset="0"/>
                </a:rPr>
                <a:t/>
              </a:r>
              <a:br>
                <a:rPr lang="en-US" sz="4800" dirty="0">
                  <a:solidFill>
                    <a:schemeClr val="bg1">
                      <a:lumMod val="50000"/>
                    </a:schemeClr>
                  </a:solidFill>
                  <a:latin typeface="Calibri" pitchFamily="34" charset="0"/>
                  <a:cs typeface="Calibri" panose="020F0502020204030204" pitchFamily="34" charset="0"/>
                </a:rPr>
              </a:br>
              <a:r>
                <a:rPr lang="en-US" sz="4800" dirty="0">
                  <a:solidFill>
                    <a:schemeClr val="bg1">
                      <a:lumMod val="50000"/>
                    </a:schemeClr>
                  </a:solidFill>
                  <a:latin typeface="Calibri" pitchFamily="34" charset="0"/>
                  <a:cs typeface="Calibri" panose="020F0502020204030204" pitchFamily="34" charset="0"/>
                </a:rPr>
                <a:t>[This sidebar area does not print.]</a:t>
              </a:r>
            </a:p>
          </p:txBody>
        </p:sp>
        <p:pic>
          <p:nvPicPr>
            <p:cNvPr id="22" name="Picture 2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4281342" y="9260274"/>
              <a:ext cx="11904515" cy="10246926"/>
            </a:xfrm>
            <a:prstGeom prst="rect">
              <a:avLst/>
            </a:prstGeom>
          </p:spPr>
        </p:pic>
      </p:grp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1945600" y="45415200"/>
            <a:ext cx="5297435" cy="185928"/>
          </a:xfrm>
          <a:prstGeom prst="rect">
            <a:avLst/>
          </a:prstGeom>
        </p:spPr>
      </p:pic>
    </p:spTree>
    <p:extLst>
      <p:ext uri="{BB962C8B-B14F-4D97-AF65-F5344CB8AC3E}">
        <p14:creationId xmlns:p14="http://schemas.microsoft.com/office/powerpoint/2010/main" val="3812944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85D6BDF-9D0E-4E2B-85B8-D8F4790360C9}" type="datetimeFigureOut">
              <a:rPr lang="en-US" smtClean="0"/>
              <a:t>4/14/2026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BB075EA-769C-4ECD-B48E-D6FCDC24F876}" type="slidenum">
              <a:rPr lang="en-US" smtClean="0"/>
              <a:t>‹#›</a:t>
            </a:fld>
            <a:endParaRPr lang="en-US" dirty="0"/>
          </a:p>
        </p:txBody>
      </p:sp>
    </p:spTree>
    <p:extLst>
      <p:ext uri="{BB962C8B-B14F-4D97-AF65-F5344CB8AC3E}">
        <p14:creationId xmlns:p14="http://schemas.microsoft.com/office/powerpoint/2010/main" val="293166510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1830920"/>
            <a:ext cx="24688800" cy="7620000"/>
          </a:xfrm>
          <a:prstGeom prst="rect">
            <a:avLst/>
          </a:prstGeom>
        </p:spPr>
        <p:txBody>
          <a:bodyPr vert="horz" lIns="438912" tIns="219456" rIns="438912" bIns="219456" rtlCol="0" anchor="ctr">
            <a:normAutofit/>
          </a:bodyPr>
          <a:lstStyle/>
          <a:p>
            <a:r>
              <a:rPr lang="en-US" dirty="0"/>
              <a:t>Click to edit Master title style</a:t>
            </a:r>
          </a:p>
        </p:txBody>
      </p:sp>
      <p:sp>
        <p:nvSpPr>
          <p:cNvPr id="3" name="Text Placeholder 2"/>
          <p:cNvSpPr>
            <a:spLocks noGrp="1"/>
          </p:cNvSpPr>
          <p:nvPr>
            <p:ph type="body" idx="1"/>
          </p:nvPr>
        </p:nvSpPr>
        <p:spPr>
          <a:xfrm>
            <a:off x="1371600" y="10668005"/>
            <a:ext cx="24688800" cy="30173086"/>
          </a:xfrm>
          <a:prstGeom prst="rect">
            <a:avLst/>
          </a:prstGeom>
        </p:spPr>
        <p:txBody>
          <a:bodyPr vert="horz" lIns="438912" tIns="219456" rIns="438912" bIns="219456"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371600" y="42375671"/>
            <a:ext cx="6400800" cy="2434167"/>
          </a:xfrm>
          <a:prstGeom prst="rect">
            <a:avLst/>
          </a:prstGeom>
        </p:spPr>
        <p:txBody>
          <a:bodyPr vert="horz" lIns="438912" tIns="219456" rIns="438912" bIns="219456" rtlCol="0" anchor="ctr"/>
          <a:lstStyle>
            <a:lvl1pPr algn="l">
              <a:defRPr sz="5800">
                <a:solidFill>
                  <a:schemeClr val="tx1">
                    <a:tint val="75000"/>
                  </a:schemeClr>
                </a:solidFill>
              </a:defRPr>
            </a:lvl1pPr>
          </a:lstStyle>
          <a:p>
            <a:fld id="{985D6BDF-9D0E-4E2B-85B8-D8F4790360C9}" type="datetimeFigureOut">
              <a:rPr lang="en-US" smtClean="0"/>
              <a:t>4/14/2026</a:t>
            </a:fld>
            <a:endParaRPr lang="en-US" dirty="0"/>
          </a:p>
        </p:txBody>
      </p:sp>
      <p:sp>
        <p:nvSpPr>
          <p:cNvPr id="5" name="Footer Placeholder 4"/>
          <p:cNvSpPr>
            <a:spLocks noGrp="1"/>
          </p:cNvSpPr>
          <p:nvPr>
            <p:ph type="ftr" sz="quarter" idx="3"/>
          </p:nvPr>
        </p:nvSpPr>
        <p:spPr>
          <a:xfrm>
            <a:off x="9372600" y="42375671"/>
            <a:ext cx="8686800" cy="2434167"/>
          </a:xfrm>
          <a:prstGeom prst="rect">
            <a:avLst/>
          </a:prstGeom>
        </p:spPr>
        <p:txBody>
          <a:bodyPr vert="horz" lIns="438912" tIns="219456" rIns="438912" bIns="219456" rtlCol="0" anchor="ctr"/>
          <a:lstStyle>
            <a:lvl1pPr algn="ctr">
              <a:defRPr sz="58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9659600" y="42375671"/>
            <a:ext cx="6400800" cy="2434167"/>
          </a:xfrm>
          <a:prstGeom prst="rect">
            <a:avLst/>
          </a:prstGeom>
        </p:spPr>
        <p:txBody>
          <a:bodyPr vert="horz" lIns="438912" tIns="219456" rIns="438912" bIns="219456" rtlCol="0" anchor="ctr"/>
          <a:lstStyle>
            <a:lvl1pPr algn="r">
              <a:defRPr sz="5800">
                <a:solidFill>
                  <a:schemeClr val="tx1">
                    <a:tint val="75000"/>
                  </a:schemeClr>
                </a:solidFill>
              </a:defRPr>
            </a:lvl1pPr>
          </a:lstStyle>
          <a:p>
            <a:fld id="{FBB075EA-769C-4ECD-B48E-D6FCDC24F876}" type="slidenum">
              <a:rPr lang="en-US" smtClean="0"/>
              <a:t>‹#›</a:t>
            </a:fld>
            <a:endParaRPr lang="en-US" dirty="0"/>
          </a:p>
        </p:txBody>
      </p:sp>
    </p:spTree>
    <p:extLst>
      <p:ext uri="{BB962C8B-B14F-4D97-AF65-F5344CB8AC3E}">
        <p14:creationId xmlns:p14="http://schemas.microsoft.com/office/powerpoint/2010/main" val="72322184"/>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ctr" defTabSz="4389120" rtl="0" eaLnBrk="1" latinLnBrk="0" hangingPunct="1">
        <a:spcBef>
          <a:spcPct val="0"/>
        </a:spcBef>
        <a:buNone/>
        <a:defRPr sz="8000" kern="1200">
          <a:solidFill>
            <a:schemeClr val="tx1"/>
          </a:solidFill>
          <a:latin typeface="+mj-lt"/>
          <a:ea typeface="+mj-ea"/>
          <a:cs typeface="+mj-cs"/>
        </a:defRPr>
      </a:lvl1pPr>
    </p:titleStyle>
    <p:bodyStyle>
      <a:lvl1pPr marL="457200" indent="-457200" algn="l" defTabSz="4389120" rtl="0" eaLnBrk="1" latinLnBrk="0" hangingPunct="1">
        <a:spcBef>
          <a:spcPct val="20000"/>
        </a:spcBef>
        <a:buFont typeface="Arial" pitchFamily="34" charset="0"/>
        <a:buChar char="•"/>
        <a:defRPr sz="3600" kern="1200">
          <a:solidFill>
            <a:schemeClr val="tx1"/>
          </a:solidFill>
          <a:latin typeface="+mn-lt"/>
          <a:ea typeface="+mn-ea"/>
          <a:cs typeface="+mn-cs"/>
        </a:defRPr>
      </a:lvl1pPr>
      <a:lvl2pPr marL="914400" indent="-457200" algn="l" defTabSz="4389120" rtl="0" eaLnBrk="1" latinLnBrk="0" hangingPunct="1">
        <a:spcBef>
          <a:spcPct val="20000"/>
        </a:spcBef>
        <a:buFont typeface="Arial" pitchFamily="34" charset="0"/>
        <a:buChar char="–"/>
        <a:defRPr sz="3600" kern="1200">
          <a:solidFill>
            <a:schemeClr val="tx1"/>
          </a:solidFill>
          <a:latin typeface="+mn-lt"/>
          <a:ea typeface="+mn-ea"/>
          <a:cs typeface="+mn-cs"/>
        </a:defRPr>
      </a:lvl2pPr>
      <a:lvl3pPr marL="1371600" indent="-457200" algn="l" defTabSz="4389120" rtl="0" eaLnBrk="1" latinLnBrk="0" hangingPunct="1">
        <a:spcBef>
          <a:spcPct val="20000"/>
        </a:spcBef>
        <a:buFont typeface="Arial" pitchFamily="34" charset="0"/>
        <a:buChar char="•"/>
        <a:defRPr sz="3600" kern="1200">
          <a:solidFill>
            <a:schemeClr val="tx1"/>
          </a:solidFill>
          <a:latin typeface="+mn-lt"/>
          <a:ea typeface="+mn-ea"/>
          <a:cs typeface="+mn-cs"/>
        </a:defRPr>
      </a:lvl3pPr>
      <a:lvl4pPr marL="1828800" indent="-457200" algn="l" defTabSz="4389120" rtl="0" eaLnBrk="1" latinLnBrk="0" hangingPunct="1">
        <a:spcBef>
          <a:spcPct val="20000"/>
        </a:spcBef>
        <a:buFont typeface="Arial" pitchFamily="34" charset="0"/>
        <a:buChar char="–"/>
        <a:defRPr sz="3600" kern="1200">
          <a:solidFill>
            <a:schemeClr val="tx1"/>
          </a:solidFill>
          <a:latin typeface="+mn-lt"/>
          <a:ea typeface="+mn-ea"/>
          <a:cs typeface="+mn-cs"/>
        </a:defRPr>
      </a:lvl4pPr>
      <a:lvl5pPr marL="2286000" indent="-457200" algn="l" defTabSz="4389120" rtl="0" eaLnBrk="1" latinLnBrk="0" hangingPunct="1">
        <a:spcBef>
          <a:spcPct val="20000"/>
        </a:spcBef>
        <a:buFont typeface="Arial" pitchFamily="34" charset="0"/>
        <a:buChar char="»"/>
        <a:defRPr sz="3600" kern="1200">
          <a:solidFill>
            <a:schemeClr val="tx1"/>
          </a:solidFill>
          <a:latin typeface="+mn-lt"/>
          <a:ea typeface="+mn-ea"/>
          <a:cs typeface="+mn-cs"/>
        </a:defRPr>
      </a:lvl5pPr>
      <a:lvl6pPr marL="1207008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464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920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3760" indent="-1097280" algn="l" defTabSz="438912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jpg"/><Relationship Id="rId3" Type="http://schemas.openxmlformats.org/officeDocument/2006/relationships/image" Target="../media/image4.png"/><Relationship Id="rId7" Type="http://schemas.openxmlformats.org/officeDocument/2006/relationships/image" Target="../media/image8.jp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22"/>
          <p:cNvSpPr txBox="1">
            <a:spLocks noChangeArrowheads="1"/>
          </p:cNvSpPr>
          <p:nvPr/>
        </p:nvSpPr>
        <p:spPr bwMode="auto">
          <a:xfrm>
            <a:off x="3291840" y="97400"/>
            <a:ext cx="20116800"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2880" tIns="365760" rIns="182880" bIns="365760" anchor="t" anchorCtr="0">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7200" b="1" dirty="0" smtClean="0">
                <a:solidFill>
                  <a:schemeClr val="accent3">
                    <a:lumMod val="20000"/>
                    <a:lumOff val="80000"/>
                  </a:schemeClr>
                </a:solidFill>
                <a:latin typeface="+mn-lt"/>
              </a:rPr>
              <a:t>Vision Based Smart Bin</a:t>
            </a:r>
            <a:endParaRPr lang="en-US" sz="7200" b="1" dirty="0">
              <a:solidFill>
                <a:schemeClr val="accent3">
                  <a:lumMod val="20000"/>
                  <a:lumOff val="80000"/>
                </a:schemeClr>
              </a:solidFill>
              <a:latin typeface="+mn-lt"/>
            </a:endParaRPr>
          </a:p>
        </p:txBody>
      </p:sp>
      <p:sp>
        <p:nvSpPr>
          <p:cNvPr id="5" name="Text Box 123"/>
          <p:cNvSpPr txBox="1">
            <a:spLocks noChangeArrowheads="1"/>
          </p:cNvSpPr>
          <p:nvPr/>
        </p:nvSpPr>
        <p:spPr bwMode="auto">
          <a:xfrm>
            <a:off x="685800" y="2667000"/>
            <a:ext cx="2598420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2880" tIns="182880" rIns="182880" bIns="182880" anchor="ctr" anchorCtr="0"/>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4800" dirty="0" err="1" smtClean="0">
                <a:solidFill>
                  <a:schemeClr val="accent3">
                    <a:lumMod val="20000"/>
                    <a:lumOff val="80000"/>
                  </a:schemeClr>
                </a:solidFill>
              </a:rPr>
              <a:t>Sharifuzzaman</a:t>
            </a:r>
            <a:r>
              <a:rPr lang="en-US" sz="4800" dirty="0" smtClean="0">
                <a:solidFill>
                  <a:schemeClr val="accent3">
                    <a:lumMod val="20000"/>
                    <a:lumOff val="80000"/>
                  </a:schemeClr>
                </a:solidFill>
              </a:rPr>
              <a:t> </a:t>
            </a:r>
            <a:r>
              <a:rPr lang="en-US" sz="4800" dirty="0" err="1" smtClean="0">
                <a:solidFill>
                  <a:schemeClr val="accent3">
                    <a:lumMod val="20000"/>
                    <a:lumOff val="80000"/>
                  </a:schemeClr>
                </a:solidFill>
              </a:rPr>
              <a:t>Mazumder</a:t>
            </a:r>
            <a:r>
              <a:rPr lang="en-US" sz="4800" dirty="0" smtClean="0">
                <a:solidFill>
                  <a:schemeClr val="accent3">
                    <a:lumMod val="20000"/>
                    <a:lumOff val="80000"/>
                  </a:schemeClr>
                </a:solidFill>
              </a:rPr>
              <a:t>, </a:t>
            </a:r>
            <a:r>
              <a:rPr lang="en-US" sz="4800" dirty="0" err="1" smtClean="0">
                <a:solidFill>
                  <a:schemeClr val="accent3">
                    <a:lumMod val="20000"/>
                    <a:lumOff val="80000"/>
                  </a:schemeClr>
                </a:solidFill>
              </a:rPr>
              <a:t>Farhana</a:t>
            </a:r>
            <a:r>
              <a:rPr lang="en-US" sz="4800" dirty="0" smtClean="0">
                <a:solidFill>
                  <a:schemeClr val="accent3">
                    <a:lumMod val="20000"/>
                    <a:lumOff val="80000"/>
                  </a:schemeClr>
                </a:solidFill>
              </a:rPr>
              <a:t> Rahman </a:t>
            </a:r>
            <a:r>
              <a:rPr lang="en-US" sz="4800" dirty="0" err="1" smtClean="0">
                <a:solidFill>
                  <a:schemeClr val="accent3">
                    <a:lumMod val="20000"/>
                    <a:lumOff val="80000"/>
                  </a:schemeClr>
                </a:solidFill>
              </a:rPr>
              <a:t>Munira</a:t>
            </a:r>
            <a:r>
              <a:rPr lang="en-US" sz="4800" dirty="0" smtClean="0">
                <a:solidFill>
                  <a:schemeClr val="accent3">
                    <a:lumMod val="20000"/>
                    <a:lumOff val="80000"/>
                  </a:schemeClr>
                </a:solidFill>
              </a:rPr>
              <a:t>, </a:t>
            </a:r>
            <a:r>
              <a:rPr lang="en-US" sz="4800" dirty="0" err="1" smtClean="0">
                <a:solidFill>
                  <a:schemeClr val="accent3">
                    <a:lumMod val="20000"/>
                    <a:lumOff val="80000"/>
                  </a:schemeClr>
                </a:solidFill>
              </a:rPr>
              <a:t>Faria</a:t>
            </a:r>
            <a:r>
              <a:rPr lang="en-US" sz="4800" dirty="0" smtClean="0">
                <a:solidFill>
                  <a:schemeClr val="accent3">
                    <a:lumMod val="20000"/>
                    <a:lumOff val="80000"/>
                  </a:schemeClr>
                </a:solidFill>
              </a:rPr>
              <a:t> Zaman </a:t>
            </a:r>
            <a:r>
              <a:rPr lang="en-US" sz="4800" dirty="0" err="1" smtClean="0">
                <a:solidFill>
                  <a:schemeClr val="accent3">
                    <a:lumMod val="20000"/>
                    <a:lumOff val="80000"/>
                  </a:schemeClr>
                </a:solidFill>
              </a:rPr>
              <a:t>Titly</a:t>
            </a:r>
            <a:r>
              <a:rPr lang="en-US" sz="4800" dirty="0" smtClean="0">
                <a:solidFill>
                  <a:schemeClr val="accent3">
                    <a:lumMod val="20000"/>
                    <a:lumOff val="80000"/>
                  </a:schemeClr>
                </a:solidFill>
              </a:rPr>
              <a:t>, </a:t>
            </a:r>
            <a:r>
              <a:rPr lang="en-US" sz="4800" dirty="0" err="1" smtClean="0">
                <a:solidFill>
                  <a:schemeClr val="accent3">
                    <a:lumMod val="20000"/>
                    <a:lumOff val="80000"/>
                  </a:schemeClr>
                </a:solidFill>
              </a:rPr>
              <a:t>Tonmoy</a:t>
            </a:r>
            <a:r>
              <a:rPr lang="en-US" sz="4800" dirty="0" smtClean="0">
                <a:solidFill>
                  <a:schemeClr val="accent3">
                    <a:lumMod val="20000"/>
                    <a:lumOff val="80000"/>
                  </a:schemeClr>
                </a:solidFill>
              </a:rPr>
              <a:t> Das</a:t>
            </a:r>
            <a:endParaRPr lang="en-US" sz="4800" baseline="30000" dirty="0">
              <a:solidFill>
                <a:schemeClr val="accent3">
                  <a:lumMod val="20000"/>
                  <a:lumOff val="80000"/>
                </a:schemeClr>
              </a:solidFill>
              <a:latin typeface="+mn-lt"/>
            </a:endParaRPr>
          </a:p>
          <a:p>
            <a:pPr algn="ctr" eaLnBrk="1" hangingPunct="1"/>
            <a:r>
              <a:rPr lang="en-US" sz="4800" dirty="0">
                <a:solidFill>
                  <a:schemeClr val="accent3">
                    <a:lumMod val="20000"/>
                    <a:lumOff val="80000"/>
                  </a:schemeClr>
                </a:solidFill>
                <a:latin typeface="+mn-lt"/>
              </a:rPr>
              <a:t>Department of Computer Science &amp; Engineering, East West University</a:t>
            </a:r>
          </a:p>
        </p:txBody>
      </p:sp>
      <p:sp>
        <p:nvSpPr>
          <p:cNvPr id="26" name="TextBox 25"/>
          <p:cNvSpPr txBox="1"/>
          <p:nvPr/>
        </p:nvSpPr>
        <p:spPr>
          <a:xfrm>
            <a:off x="7859951" y="41580649"/>
            <a:ext cx="18472781" cy="2669155"/>
          </a:xfrm>
          <a:prstGeom prst="rect">
            <a:avLst/>
          </a:prstGeom>
          <a:noFill/>
        </p:spPr>
        <p:txBody>
          <a:bodyPr wrap="square" tIns="91440" bIns="91440" numCol="1" spcCol="457200" rtlCol="0">
            <a:noAutofit/>
          </a:bodyPr>
          <a:lstStyle/>
          <a:p>
            <a:pPr marL="457200" indent="-457200">
              <a:buFont typeface="+mj-lt"/>
              <a:buAutoNum type="arabicPeriod"/>
            </a:pPr>
            <a:r>
              <a:rPr lang="en-US" sz="1600" dirty="0" smtClean="0"/>
              <a:t> </a:t>
            </a:r>
            <a:r>
              <a:rPr lang="en-US" sz="1600" dirty="0" err="1"/>
              <a:t>Redmon</a:t>
            </a:r>
            <a:r>
              <a:rPr lang="en-US" sz="1600" dirty="0"/>
              <a:t>, J., </a:t>
            </a:r>
            <a:r>
              <a:rPr lang="en-US" sz="1600" dirty="0" err="1"/>
              <a:t>Divvala</a:t>
            </a:r>
            <a:r>
              <a:rPr lang="en-US" sz="1600" dirty="0"/>
              <a:t>, S., </a:t>
            </a:r>
            <a:r>
              <a:rPr lang="en-US" sz="1600" dirty="0" err="1"/>
              <a:t>Girshick</a:t>
            </a:r>
            <a:r>
              <a:rPr lang="en-US" sz="1600" dirty="0"/>
              <a:t>, R. and </a:t>
            </a:r>
            <a:r>
              <a:rPr lang="en-US" sz="1600" dirty="0" err="1"/>
              <a:t>Farhadi</a:t>
            </a:r>
            <a:r>
              <a:rPr lang="en-US" sz="1600" dirty="0"/>
              <a:t>, A., 2016. You only look once: Unified, real-time object detection. In Proceedings of the IEEE conference on computer vision and pattern recognition (pp. 779-788). </a:t>
            </a:r>
            <a:r>
              <a:rPr lang="en-US" sz="1600" dirty="0" err="1" smtClean="0"/>
              <a:t>cit</a:t>
            </a:r>
            <a:endParaRPr lang="en-US" sz="1600" dirty="0" smtClean="0"/>
          </a:p>
          <a:p>
            <a:pPr marL="457200" indent="-457200">
              <a:buFont typeface="+mj-lt"/>
              <a:buAutoNum type="arabicPeriod"/>
            </a:pPr>
            <a:r>
              <a:rPr lang="en-US" sz="1600" dirty="0"/>
              <a:t>Lu, W. and Chen, J., 2022. Computer vision for solid waste sorting: A critical review of academic research. Waste Management, 142, pp.29-43</a:t>
            </a:r>
            <a:r>
              <a:rPr lang="en-US" sz="1600" dirty="0" smtClean="0"/>
              <a:t>.</a:t>
            </a:r>
          </a:p>
          <a:p>
            <a:pPr marL="457200" indent="-457200">
              <a:buFont typeface="+mj-lt"/>
              <a:buAutoNum type="arabicPeriod"/>
            </a:pPr>
            <a:r>
              <a:rPr lang="en-US" sz="1600" dirty="0"/>
              <a:t>White, G., Cabrera, C., Palade, A., Li, F. and Clarke, S., 2020. </a:t>
            </a:r>
            <a:r>
              <a:rPr lang="en-US" sz="1600" dirty="0" err="1"/>
              <a:t>WasteNet</a:t>
            </a:r>
            <a:r>
              <a:rPr lang="en-US" sz="1600" dirty="0"/>
              <a:t>: Waste classification at the edge for smart bins. </a:t>
            </a:r>
            <a:r>
              <a:rPr lang="en-US" sz="1600" dirty="0" err="1"/>
              <a:t>arXiv</a:t>
            </a:r>
            <a:r>
              <a:rPr lang="en-US" sz="1600" dirty="0"/>
              <a:t> preprint arXiv:2006.05873.</a:t>
            </a:r>
            <a:endParaRPr lang="en-US" sz="1600" dirty="0"/>
          </a:p>
        </p:txBody>
      </p:sp>
      <p:sp>
        <p:nvSpPr>
          <p:cNvPr id="27" name="TextBox 26"/>
          <p:cNvSpPr txBox="1"/>
          <p:nvPr/>
        </p:nvSpPr>
        <p:spPr>
          <a:xfrm>
            <a:off x="7859951" y="40622810"/>
            <a:ext cx="3334695" cy="923330"/>
          </a:xfrm>
          <a:prstGeom prst="rect">
            <a:avLst/>
          </a:prstGeom>
          <a:noFill/>
        </p:spPr>
        <p:txBody>
          <a:bodyPr wrap="none" rtlCol="0">
            <a:spAutoFit/>
          </a:bodyPr>
          <a:lstStyle/>
          <a:p>
            <a:r>
              <a:rPr lang="en-US" sz="5400" b="1" dirty="0"/>
              <a:t>References</a:t>
            </a:r>
          </a:p>
        </p:txBody>
      </p:sp>
      <p:sp>
        <p:nvSpPr>
          <p:cNvPr id="10" name="Text Box 189"/>
          <p:cNvSpPr txBox="1">
            <a:spLocks noChangeArrowheads="1"/>
          </p:cNvSpPr>
          <p:nvPr/>
        </p:nvSpPr>
        <p:spPr bwMode="auto">
          <a:xfrm>
            <a:off x="1325329" y="6649846"/>
            <a:ext cx="12344401" cy="7961117"/>
          </a:xfrm>
          <a:prstGeom prst="rect">
            <a:avLst/>
          </a:prstGeom>
          <a:solidFill>
            <a:schemeClr val="bg1"/>
          </a:solidFill>
          <a:ln w="12700">
            <a:solidFill>
              <a:schemeClr val="accent1">
                <a:lumMod val="75000"/>
              </a:schemeClr>
            </a:solidFill>
          </a:ln>
          <a:effectLst/>
        </p:spPr>
        <p:txBody>
          <a:bodyPr lIns="182880" tIns="182880" rIns="182880" bIns="182880">
            <a:no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algn="just" eaLnBrk="1" hangingPunct="1"/>
            <a:r>
              <a:rPr lang="en-US" altLang="zh-CN" sz="3000" dirty="0" smtClean="0">
                <a:latin typeface="Times New Roman" panose="02020603050405020304" pitchFamily="18" charset="0"/>
                <a:cs typeface="Times New Roman" panose="02020603050405020304" pitchFamily="18" charset="0"/>
              </a:rPr>
              <a:t>The project proposes the design and development of a vision-based smart bin, whose functionality lies in automatically</a:t>
            </a:r>
            <a:r>
              <a:rPr lang="en-US" sz="3000" dirty="0" smtClean="0">
                <a:latin typeface="Times New Roman" panose="02020603050405020304" pitchFamily="18" charset="0"/>
                <a:cs typeface="Times New Roman" panose="02020603050405020304" pitchFamily="18" charset="0"/>
              </a:rPr>
              <a:t> correct</a:t>
            </a:r>
            <a:r>
              <a:rPr lang="zh-CN" altLang="en-US" sz="3000" dirty="0" smtClean="0">
                <a:latin typeface="Times New Roman" panose="02020603050405020304" pitchFamily="18" charset="0"/>
                <a:cs typeface="Times New Roman" panose="02020603050405020304" pitchFamily="18" charset="0"/>
              </a:rPr>
              <a:t> </a:t>
            </a:r>
            <a:r>
              <a:rPr lang="en-US" altLang="zh-CN" sz="3000" dirty="0" smtClean="0">
                <a:latin typeface="Times New Roman" panose="02020603050405020304" pitchFamily="18" charset="0"/>
                <a:cs typeface="Times New Roman" panose="02020603050405020304" pitchFamily="18" charset="0"/>
              </a:rPr>
              <a:t>waste</a:t>
            </a:r>
            <a:r>
              <a:rPr lang="en-US" sz="3000" dirty="0" smtClean="0">
                <a:latin typeface="Times New Roman" panose="02020603050405020304" pitchFamily="18" charset="0"/>
                <a:cs typeface="Times New Roman" panose="02020603050405020304" pitchFamily="18" charset="0"/>
              </a:rPr>
              <a:t> detection</a:t>
            </a:r>
            <a:r>
              <a:rPr lang="zh-CN" altLang="en-US" sz="3000" dirty="0" smtClean="0">
                <a:latin typeface="Times New Roman" panose="02020603050405020304" pitchFamily="18" charset="0"/>
                <a:cs typeface="Times New Roman" panose="02020603050405020304" pitchFamily="18" charset="0"/>
              </a:rPr>
              <a:t> </a:t>
            </a:r>
            <a:r>
              <a:rPr lang="en-US" altLang="zh-CN" sz="3000" dirty="0" smtClean="0">
                <a:latin typeface="Times New Roman" panose="02020603050405020304" pitchFamily="18" charset="0"/>
                <a:cs typeface="Times New Roman" panose="02020603050405020304" pitchFamily="18" charset="0"/>
              </a:rPr>
              <a:t>via object detection. Incorrect waste segregation continues being an issue, leading to pollution of the environment and low levels of recycling efficiency. To deal with this problem, a smart dual-bin system is developed and tested. This system utilizes a lightweight YOLOv8n object detection model, which distinguishes recyclables among the incoming waste (paper and plastic) via a camera. This object detection algorithm is run on a computer that connects to an Arduino Uno R3 device to activate the dual bins according to the detected classes. Thus, if recyclables are found, the relevant servo motors open the corresponding bins. For objects not classified, the servo motors remain idle, thereby allowing other types of waste to be placed into a special compartment. During the training process, the model attained the best results of 72.5% mAP50-95. At the same time, class-specific precisions were 99% whereas recalls equaled 95%. The experiments showed acceptable detection capabilities together with coordinated operation of the hardware and software parts of the project.</a:t>
            </a:r>
          </a:p>
          <a:p>
            <a:pPr algn="just" eaLnBrk="1" hangingPunct="1"/>
            <a:endParaRPr lang="en-US" sz="2800" dirty="0">
              <a:latin typeface="Times New Roman" panose="02020603050405020304" pitchFamily="18" charset="0"/>
              <a:cs typeface="Times New Roman" panose="02020603050405020304" pitchFamily="18" charset="0"/>
            </a:endParaRPr>
          </a:p>
        </p:txBody>
      </p:sp>
      <p:sp>
        <p:nvSpPr>
          <p:cNvPr id="32" name="Rectangle 31"/>
          <p:cNvSpPr/>
          <p:nvPr/>
        </p:nvSpPr>
        <p:spPr>
          <a:xfrm>
            <a:off x="1319986" y="5850794"/>
            <a:ext cx="12371425" cy="73152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accent3">
                    <a:lumMod val="20000"/>
                    <a:lumOff val="80000"/>
                  </a:schemeClr>
                </a:solidFill>
              </a:rPr>
              <a:t>Abstract</a:t>
            </a:r>
          </a:p>
        </p:txBody>
      </p:sp>
      <p:sp>
        <p:nvSpPr>
          <p:cNvPr id="15" name="Text Box 194"/>
          <p:cNvSpPr txBox="1">
            <a:spLocks noChangeArrowheads="1"/>
          </p:cNvSpPr>
          <p:nvPr/>
        </p:nvSpPr>
        <p:spPr bwMode="auto">
          <a:xfrm>
            <a:off x="14173200" y="6827519"/>
            <a:ext cx="12159532" cy="8766982"/>
          </a:xfrm>
          <a:prstGeom prst="rect">
            <a:avLst/>
          </a:prstGeom>
          <a:solidFill>
            <a:schemeClr val="bg1"/>
          </a:solidFill>
          <a:ln w="12700">
            <a:solidFill>
              <a:schemeClr val="accent1">
                <a:lumMod val="75000"/>
              </a:schemeClr>
            </a:solidFill>
          </a:ln>
          <a:effectLst/>
        </p:spPr>
        <p:txBody>
          <a:bodyPr lIns="182880" tIns="182880" rIns="182880" bIns="182880">
            <a:no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endParaRPr lang="en-US" sz="3000" dirty="0">
              <a:latin typeface="Calibri" pitchFamily="34" charset="0"/>
            </a:endParaRPr>
          </a:p>
        </p:txBody>
      </p:sp>
      <p:sp>
        <p:nvSpPr>
          <p:cNvPr id="33" name="Rectangle 32"/>
          <p:cNvSpPr/>
          <p:nvPr/>
        </p:nvSpPr>
        <p:spPr>
          <a:xfrm>
            <a:off x="1319987" y="14664737"/>
            <a:ext cx="12396010" cy="73152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smtClean="0">
                <a:solidFill>
                  <a:schemeClr val="accent3">
                    <a:lumMod val="20000"/>
                    <a:lumOff val="80000"/>
                  </a:schemeClr>
                </a:solidFill>
              </a:rPr>
              <a:t>Background</a:t>
            </a:r>
            <a:endParaRPr lang="en-US" sz="5400" b="1" dirty="0">
              <a:solidFill>
                <a:schemeClr val="accent3">
                  <a:lumMod val="20000"/>
                  <a:lumOff val="80000"/>
                </a:schemeClr>
              </a:solidFill>
            </a:endParaRPr>
          </a:p>
        </p:txBody>
      </p:sp>
      <p:sp>
        <p:nvSpPr>
          <p:cNvPr id="13" name="Text Box 192"/>
          <p:cNvSpPr txBox="1">
            <a:spLocks noChangeArrowheads="1"/>
          </p:cNvSpPr>
          <p:nvPr/>
        </p:nvSpPr>
        <p:spPr bwMode="auto">
          <a:xfrm>
            <a:off x="1321205" y="25788374"/>
            <a:ext cx="12344400" cy="6832640"/>
          </a:xfrm>
          <a:prstGeom prst="rect">
            <a:avLst/>
          </a:prstGeom>
          <a:solidFill>
            <a:schemeClr val="bg1"/>
          </a:solidFill>
          <a:ln w="12700">
            <a:solidFill>
              <a:schemeClr val="accent1">
                <a:lumMod val="75000"/>
              </a:schemeClr>
            </a:solidFill>
          </a:ln>
          <a:effectLst/>
        </p:spPr>
        <p:txBody>
          <a:bodyPr wrap="square" lIns="182880" tIns="182880" rIns="182880" bIns="182880">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L="514350" indent="-514350" eaLnBrk="1" hangingPunct="1">
              <a:buAutoNum type="arabicPeriod"/>
            </a:pPr>
            <a:r>
              <a:rPr lang="en-US" sz="3000" b="1" dirty="0" smtClean="0">
                <a:latin typeface="Times New Roman" panose="02020603050405020304" pitchFamily="18" charset="0"/>
                <a:cs typeface="Times New Roman" panose="02020603050405020304" pitchFamily="18" charset="0"/>
              </a:rPr>
              <a:t>Data </a:t>
            </a:r>
            <a:r>
              <a:rPr lang="en-US" sz="3000" b="1" dirty="0">
                <a:latin typeface="Times New Roman" panose="02020603050405020304" pitchFamily="18" charset="0"/>
                <a:cs typeface="Times New Roman" panose="02020603050405020304" pitchFamily="18" charset="0"/>
              </a:rPr>
              <a:t>Preparation</a:t>
            </a:r>
            <a:r>
              <a:rPr lang="en-US" sz="3000" dirty="0">
                <a:latin typeface="Times New Roman" panose="02020603050405020304" pitchFamily="18" charset="0"/>
                <a:cs typeface="Times New Roman" panose="02020603050405020304" pitchFamily="18" charset="0"/>
              </a:rPr>
              <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Plastic and paper images were collected in YOLO format and augmented to improve performance under different conditions</a:t>
            </a:r>
            <a:r>
              <a:rPr lang="en-US" sz="3000" dirty="0" smtClean="0">
                <a:latin typeface="Times New Roman" panose="02020603050405020304" pitchFamily="18" charset="0"/>
                <a:cs typeface="Times New Roman" panose="02020603050405020304" pitchFamily="18" charset="0"/>
              </a:rPr>
              <a:t>.</a:t>
            </a:r>
          </a:p>
          <a:p>
            <a:pPr marL="514350" indent="-514350" eaLnBrk="1" hangingPunct="1">
              <a:buAutoNum type="arabicPeriod"/>
            </a:pPr>
            <a:r>
              <a:rPr lang="en-US" sz="3000" b="1" dirty="0" smtClean="0">
                <a:latin typeface="Times New Roman" panose="02020603050405020304" pitchFamily="18" charset="0"/>
                <a:cs typeface="Times New Roman" panose="02020603050405020304" pitchFamily="18" charset="0"/>
              </a:rPr>
              <a:t>Model </a:t>
            </a:r>
            <a:r>
              <a:rPr lang="en-US" sz="3000" b="1" dirty="0">
                <a:latin typeface="Times New Roman" panose="02020603050405020304" pitchFamily="18" charset="0"/>
                <a:cs typeface="Times New Roman" panose="02020603050405020304" pitchFamily="18" charset="0"/>
              </a:rPr>
              <a:t>Training</a:t>
            </a:r>
            <a:r>
              <a:rPr lang="en-US" sz="3000" dirty="0">
                <a:latin typeface="Times New Roman" panose="02020603050405020304" pitchFamily="18" charset="0"/>
                <a:cs typeface="Times New Roman" panose="02020603050405020304" pitchFamily="18" charset="0"/>
              </a:rPr>
              <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A YOLOv8n model was trained to detect two classes: plastic and paper, providing class labels with confidence </a:t>
            </a:r>
            <a:r>
              <a:rPr lang="en-US" sz="3000" dirty="0" smtClean="0">
                <a:latin typeface="Times New Roman" panose="02020603050405020304" pitchFamily="18" charset="0"/>
                <a:cs typeface="Times New Roman" panose="02020603050405020304" pitchFamily="18" charset="0"/>
              </a:rPr>
              <a:t>scores.</a:t>
            </a:r>
          </a:p>
          <a:p>
            <a:pPr marL="514350" indent="-514350" eaLnBrk="1" hangingPunct="1">
              <a:buAutoNum type="arabicPeriod"/>
            </a:pPr>
            <a:r>
              <a:rPr lang="en-US" sz="3000" b="1" dirty="0" smtClean="0">
                <a:latin typeface="Times New Roman" panose="02020603050405020304" pitchFamily="18" charset="0"/>
                <a:cs typeface="Times New Roman" panose="02020603050405020304" pitchFamily="18" charset="0"/>
              </a:rPr>
              <a:t>Detection </a:t>
            </a:r>
            <a:r>
              <a:rPr lang="en-US" sz="3000" b="1" dirty="0">
                <a:latin typeface="Times New Roman" panose="02020603050405020304" pitchFamily="18" charset="0"/>
                <a:cs typeface="Times New Roman" panose="02020603050405020304" pitchFamily="18" charset="0"/>
              </a:rPr>
              <a:t>and Decision</a:t>
            </a:r>
            <a:r>
              <a:rPr lang="en-US" sz="3000" dirty="0">
                <a:latin typeface="Times New Roman" panose="02020603050405020304" pitchFamily="18" charset="0"/>
                <a:cs typeface="Times New Roman" panose="02020603050405020304" pitchFamily="18" charset="0"/>
              </a:rPr>
              <a:t/>
            </a: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The webcam captures images, and the model detects objects. Plastic and paper trigger respective bins, while low-confidence detections are treated as “others</a:t>
            </a:r>
            <a:r>
              <a:rPr lang="en-US" sz="3000" dirty="0" smtClean="0">
                <a:latin typeface="Times New Roman" panose="02020603050405020304" pitchFamily="18" charset="0"/>
                <a:cs typeface="Times New Roman" panose="02020603050405020304" pitchFamily="18" charset="0"/>
              </a:rPr>
              <a:t>.</a:t>
            </a:r>
          </a:p>
          <a:p>
            <a:pPr marL="514350" indent="-514350" eaLnBrk="1" hangingPunct="1">
              <a:buFontTx/>
              <a:buAutoNum type="arabicPeriod"/>
            </a:pPr>
            <a:r>
              <a:rPr lang="en-US" sz="3000" b="1" dirty="0" smtClean="0">
                <a:latin typeface="Times New Roman" panose="02020603050405020304" pitchFamily="18" charset="0"/>
                <a:cs typeface="Times New Roman" panose="02020603050405020304" pitchFamily="18" charset="0"/>
              </a:rPr>
              <a:t>Hardware </a:t>
            </a:r>
            <a:r>
              <a:rPr lang="en-US" sz="3000" b="1" dirty="0" err="1" smtClean="0">
                <a:latin typeface="Times New Roman" panose="02020603050405020304" pitchFamily="18" charset="0"/>
                <a:cs typeface="Times New Roman" panose="02020603050405020304" pitchFamily="18" charset="0"/>
              </a:rPr>
              <a:t>Actuation</a:t>
            </a:r>
            <a:r>
              <a:rPr lang="en-US" sz="3000" dirty="0" err="1">
                <a:latin typeface="Times New Roman" panose="02020603050405020304" pitchFamily="18" charset="0"/>
                <a:cs typeface="Times New Roman" panose="02020603050405020304" pitchFamily="18" charset="0"/>
              </a:rPr>
              <a:t>Detection</a:t>
            </a:r>
            <a:r>
              <a:rPr lang="en-US" sz="3000" dirty="0">
                <a:latin typeface="Times New Roman" panose="02020603050405020304" pitchFamily="18" charset="0"/>
                <a:cs typeface="Times New Roman" panose="02020603050405020304" pitchFamily="18" charset="0"/>
              </a:rPr>
              <a:t> results are sent to Arduino, which controls servo motors to open the correct bin lid and then close it automatically</a:t>
            </a:r>
            <a:br>
              <a:rPr lang="en-US" sz="3000" dirty="0">
                <a:latin typeface="Times New Roman" panose="02020603050405020304" pitchFamily="18" charset="0"/>
                <a:cs typeface="Times New Roman" panose="02020603050405020304" pitchFamily="18" charset="0"/>
              </a:rPr>
            </a:br>
            <a:r>
              <a:rPr lang="en-US" sz="3000" dirty="0" smtClean="0">
                <a:latin typeface="Times New Roman" panose="02020603050405020304" pitchFamily="18" charset="0"/>
                <a:cs typeface="Times New Roman" panose="02020603050405020304" pitchFamily="18" charset="0"/>
              </a:rPr>
              <a:t>.</a:t>
            </a:r>
            <a:endParaRPr lang="en-US" sz="3000" dirty="0">
              <a:latin typeface="Times New Roman" panose="02020603050405020304" pitchFamily="18" charset="0"/>
              <a:cs typeface="Times New Roman" panose="02020603050405020304" pitchFamily="18" charset="0"/>
            </a:endParaRPr>
          </a:p>
          <a:p>
            <a:pPr marL="514350" indent="-514350" eaLnBrk="1" hangingPunct="1">
              <a:buAutoNum type="arabicPeriod"/>
            </a:pPr>
            <a:endParaRPr lang="en-US" sz="3000" dirty="0">
              <a:latin typeface="Times New Roman" panose="02020603050405020304" pitchFamily="18" charset="0"/>
              <a:cs typeface="Times New Roman" panose="02020603050405020304" pitchFamily="18" charset="0"/>
            </a:endParaRPr>
          </a:p>
        </p:txBody>
      </p:sp>
      <p:sp>
        <p:nvSpPr>
          <p:cNvPr id="34" name="Rectangle 33"/>
          <p:cNvSpPr/>
          <p:nvPr/>
        </p:nvSpPr>
        <p:spPr>
          <a:xfrm>
            <a:off x="1347012" y="24921789"/>
            <a:ext cx="12344399" cy="73152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accent3">
                    <a:lumMod val="20000"/>
                    <a:lumOff val="80000"/>
                  </a:schemeClr>
                </a:solidFill>
              </a:rPr>
              <a:t>Proposed Methodology</a:t>
            </a:r>
          </a:p>
        </p:txBody>
      </p:sp>
      <p:sp>
        <p:nvSpPr>
          <p:cNvPr id="12" name="Text Box 191"/>
          <p:cNvSpPr txBox="1">
            <a:spLocks noChangeArrowheads="1"/>
          </p:cNvSpPr>
          <p:nvPr/>
        </p:nvSpPr>
        <p:spPr bwMode="auto">
          <a:xfrm>
            <a:off x="14193253" y="20561672"/>
            <a:ext cx="11887200" cy="7164899"/>
          </a:xfrm>
          <a:prstGeom prst="rect">
            <a:avLst/>
          </a:prstGeom>
          <a:solidFill>
            <a:schemeClr val="bg1"/>
          </a:solidFill>
          <a:ln w="12700">
            <a:solidFill>
              <a:schemeClr val="accent1">
                <a:lumMod val="75000"/>
              </a:schemeClr>
            </a:solidFill>
          </a:ln>
          <a:effectLst/>
        </p:spPr>
        <p:txBody>
          <a:bodyPr lIns="182880" tIns="182880" rIns="182880" bIns="182880">
            <a:no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algn="just"/>
            <a:r>
              <a:rPr lang="en-US" sz="3000" b="1" dirty="0" smtClean="0">
                <a:latin typeface="Times New Roman" panose="02020603050405020304" pitchFamily="18" charset="0"/>
                <a:cs typeface="Times New Roman" panose="02020603050405020304" pitchFamily="18" charset="0"/>
              </a:rPr>
              <a:t>Machine Learning Model Selection: </a:t>
            </a:r>
            <a:r>
              <a:rPr lang="en-US" sz="3000" dirty="0" smtClean="0">
                <a:latin typeface="Times New Roman" panose="02020603050405020304" pitchFamily="18" charset="0"/>
                <a:cs typeface="Times New Roman" panose="02020603050405020304" pitchFamily="18" charset="0"/>
              </a:rPr>
              <a:t>The Comparative evaluation of YOLOv8n, YOLOv8m highlights YOLOv8n as the most practical choice for lightweight and resource constrained deployment.</a:t>
            </a:r>
            <a:r>
              <a:rPr lang="en-US" sz="3000" dirty="0">
                <a:latin typeface="Times New Roman" panose="02020603050405020304" pitchFamily="18" charset="0"/>
                <a:cs typeface="Times New Roman" panose="02020603050405020304" pitchFamily="18" charset="0"/>
              </a:rPr>
              <a:t> </a:t>
            </a:r>
            <a:endParaRPr lang="en-US" sz="3000" dirty="0" smtClean="0">
              <a:latin typeface="Times New Roman" panose="02020603050405020304" pitchFamily="18" charset="0"/>
              <a:cs typeface="Times New Roman" panose="02020603050405020304" pitchFamily="18" charset="0"/>
            </a:endParaRPr>
          </a:p>
          <a:p>
            <a:pPr algn="just"/>
            <a:r>
              <a:rPr lang="en-US" sz="3000" b="1" dirty="0" smtClean="0">
                <a:latin typeface="Times New Roman" panose="02020603050405020304" pitchFamily="18" charset="0"/>
                <a:cs typeface="Times New Roman" panose="02020603050405020304" pitchFamily="18" charset="0"/>
              </a:rPr>
              <a:t>Servo Synchronization: </a:t>
            </a:r>
            <a:r>
              <a:rPr lang="en-US" sz="3000" dirty="0" smtClean="0">
                <a:latin typeface="Times New Roman" panose="02020603050405020304" pitchFamily="18" charset="0"/>
                <a:cs typeface="Times New Roman" panose="02020603050405020304" pitchFamily="18" charset="0"/>
              </a:rPr>
              <a:t>Proper implementation of Arduino control logic ensures synchronized rotation of dual servo motors. This synchronization is essential for stable and reliable dual-bin lid operation.</a:t>
            </a:r>
          </a:p>
          <a:p>
            <a:pPr algn="just"/>
            <a:r>
              <a:rPr lang="en-US" sz="3000" b="1" dirty="0" smtClean="0">
                <a:latin typeface="Times New Roman" panose="02020603050405020304" pitchFamily="18" charset="0"/>
                <a:cs typeface="Times New Roman" panose="02020603050405020304" pitchFamily="18" charset="0"/>
              </a:rPr>
              <a:t> Hardware </a:t>
            </a:r>
            <a:r>
              <a:rPr lang="en-US" sz="3000" b="1" dirty="0" err="1" smtClean="0">
                <a:latin typeface="Times New Roman" panose="02020603050405020304" pitchFamily="18" charset="0"/>
                <a:cs typeface="Times New Roman" panose="02020603050405020304" pitchFamily="18" charset="0"/>
              </a:rPr>
              <a:t>Stability:</a:t>
            </a:r>
            <a:r>
              <a:rPr lang="en-US" sz="3000" dirty="0" err="1" smtClean="0">
                <a:latin typeface="Times New Roman" panose="02020603050405020304" pitchFamily="18" charset="0"/>
                <a:cs typeface="Times New Roman" panose="02020603050405020304" pitchFamily="18" charset="0"/>
              </a:rPr>
              <a:t>The</a:t>
            </a:r>
            <a:r>
              <a:rPr lang="en-US" sz="3000" dirty="0" smtClean="0">
                <a:latin typeface="Times New Roman" panose="02020603050405020304" pitchFamily="18" charset="0"/>
                <a:cs typeface="Times New Roman" panose="02020603050405020304" pitchFamily="18" charset="0"/>
              </a:rPr>
              <a:t> system shows stable performance during continuous operation. The use of a modular wiring setup (breadboard and connecting wires) allows easy maintenance and future upgrades.</a:t>
            </a:r>
          </a:p>
          <a:p>
            <a:pPr algn="just"/>
            <a:r>
              <a:rPr lang="en-US" sz="3000" b="1" dirty="0" smtClean="0">
                <a:latin typeface="Times New Roman" panose="02020603050405020304" pitchFamily="18" charset="0"/>
                <a:cs typeface="Times New Roman" panose="02020603050405020304" pitchFamily="18" charset="0"/>
              </a:rPr>
              <a:t> Real-time Software–Hardware </a:t>
            </a:r>
            <a:r>
              <a:rPr lang="en-US" sz="3000" b="1" dirty="0" err="1" smtClean="0">
                <a:latin typeface="Times New Roman" panose="02020603050405020304" pitchFamily="18" charset="0"/>
                <a:cs typeface="Times New Roman" panose="02020603050405020304" pitchFamily="18" charset="0"/>
              </a:rPr>
              <a:t>Integration:</a:t>
            </a:r>
            <a:r>
              <a:rPr lang="en-US" sz="3000" dirty="0" err="1" smtClean="0">
                <a:latin typeface="Times New Roman" panose="02020603050405020304" pitchFamily="18" charset="0"/>
                <a:cs typeface="Times New Roman" panose="02020603050405020304" pitchFamily="18" charset="0"/>
              </a:rPr>
              <a:t>The</a:t>
            </a:r>
            <a:r>
              <a:rPr lang="en-US" sz="3000" dirty="0" smtClean="0">
                <a:latin typeface="Times New Roman" panose="02020603050405020304" pitchFamily="18" charset="0"/>
                <a:cs typeface="Times New Roman" panose="02020603050405020304" pitchFamily="18" charset="0"/>
              </a:rPr>
              <a:t> YOLOv8n model output is successfully transmitted to Arduino, enabling real-time actuation of the corresponding bin lid based on detection results.</a:t>
            </a:r>
          </a:p>
          <a:p>
            <a:pPr algn="just" eaLnBrk="1" hangingPunct="1"/>
            <a:endParaRPr lang="en-US" sz="3000" dirty="0" smtClean="0">
              <a:latin typeface="Times New Roman" panose="02020603050405020304" pitchFamily="18" charset="0"/>
              <a:cs typeface="Times New Roman" panose="02020603050405020304" pitchFamily="18" charset="0"/>
            </a:endParaRPr>
          </a:p>
          <a:p>
            <a:pPr algn="just" eaLnBrk="1" hangingPunct="1"/>
            <a:endParaRPr lang="en-US" sz="3000" dirty="0">
              <a:latin typeface="Times New Roman" panose="02020603050405020304" pitchFamily="18" charset="0"/>
              <a:cs typeface="Times New Roman" panose="02020603050405020304" pitchFamily="18" charset="0"/>
            </a:endParaRPr>
          </a:p>
        </p:txBody>
      </p:sp>
      <p:sp>
        <p:nvSpPr>
          <p:cNvPr id="35" name="Rectangle 34"/>
          <p:cNvSpPr/>
          <p:nvPr/>
        </p:nvSpPr>
        <p:spPr>
          <a:xfrm>
            <a:off x="14173200" y="19721426"/>
            <a:ext cx="11887200" cy="73152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accent3">
                    <a:lumMod val="20000"/>
                    <a:lumOff val="80000"/>
                  </a:schemeClr>
                </a:solidFill>
              </a:rPr>
              <a:t>Discussion</a:t>
            </a:r>
          </a:p>
        </p:txBody>
      </p:sp>
      <p:sp>
        <p:nvSpPr>
          <p:cNvPr id="14" name="Text Box 193"/>
          <p:cNvSpPr txBox="1">
            <a:spLocks noChangeArrowheads="1"/>
          </p:cNvSpPr>
          <p:nvPr/>
        </p:nvSpPr>
        <p:spPr bwMode="auto">
          <a:xfrm>
            <a:off x="14173200" y="36332279"/>
            <a:ext cx="11887200" cy="3262432"/>
          </a:xfrm>
          <a:prstGeom prst="rect">
            <a:avLst/>
          </a:prstGeom>
          <a:solidFill>
            <a:schemeClr val="bg1"/>
          </a:solidFill>
          <a:ln w="12700">
            <a:solidFill>
              <a:schemeClr val="accent1">
                <a:lumMod val="75000"/>
              </a:schemeClr>
            </a:solidFill>
          </a:ln>
          <a:effectLst/>
        </p:spPr>
        <p:txBody>
          <a:bodyPr lIns="182880" tIns="182880" rIns="182880" bIns="182880">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algn="just" eaLnBrk="1" hangingPunct="1"/>
            <a:r>
              <a:rPr lang="en-US" sz="3000" dirty="0" smtClean="0">
                <a:latin typeface="Times New Roman" panose="02020603050405020304" pitchFamily="18" charset="0"/>
                <a:cs typeface="Times New Roman" panose="02020603050405020304" pitchFamily="18" charset="0"/>
              </a:rPr>
              <a:t>This project successfully establishes a functional and affordable vision-based smart recycling system through the integration of machine learning, computer vision, and embedded hardware. Overall, this work contributes toward efficient, low-cost, and intelligent waste management systems that can be applied in homes, educational institutions, and small-scale environments, supporting sustainability and </a:t>
            </a:r>
            <a:r>
              <a:rPr lang="en-US" sz="3000" smtClean="0">
                <a:latin typeface="Times New Roman" panose="02020603050405020304" pitchFamily="18" charset="0"/>
                <a:cs typeface="Times New Roman" panose="02020603050405020304" pitchFamily="18" charset="0"/>
              </a:rPr>
              <a:t>environmental protection.</a:t>
            </a:r>
            <a:endParaRPr lang="en-US" sz="3000" dirty="0">
              <a:latin typeface="Times New Roman" panose="02020603050405020304" pitchFamily="18" charset="0"/>
              <a:cs typeface="Times New Roman" panose="02020603050405020304" pitchFamily="18" charset="0"/>
            </a:endParaRPr>
          </a:p>
        </p:txBody>
      </p:sp>
      <p:sp>
        <p:nvSpPr>
          <p:cNvPr id="36" name="Rectangle 35"/>
          <p:cNvSpPr/>
          <p:nvPr/>
        </p:nvSpPr>
        <p:spPr>
          <a:xfrm>
            <a:off x="14173200" y="35600759"/>
            <a:ext cx="11887200" cy="73152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accent3">
                    <a:lumMod val="20000"/>
                    <a:lumOff val="80000"/>
                  </a:schemeClr>
                </a:solidFill>
              </a:rPr>
              <a:t>Conclusions</a:t>
            </a:r>
          </a:p>
        </p:txBody>
      </p:sp>
      <p:sp>
        <p:nvSpPr>
          <p:cNvPr id="11" name="Text Box 190"/>
          <p:cNvSpPr txBox="1">
            <a:spLocks noChangeArrowheads="1"/>
          </p:cNvSpPr>
          <p:nvPr/>
        </p:nvSpPr>
        <p:spPr bwMode="auto">
          <a:xfrm>
            <a:off x="1319986" y="15413512"/>
            <a:ext cx="12396011" cy="9381893"/>
          </a:xfrm>
          <a:prstGeom prst="rect">
            <a:avLst/>
          </a:prstGeom>
          <a:solidFill>
            <a:schemeClr val="bg1"/>
          </a:solidFill>
          <a:ln w="12700">
            <a:solidFill>
              <a:schemeClr val="accent1">
                <a:lumMod val="75000"/>
              </a:schemeClr>
            </a:solidFill>
          </a:ln>
          <a:effectLst/>
        </p:spPr>
        <p:txBody>
          <a:bodyPr wrap="square" lIns="182880" tIns="182880" rIns="182880" bIns="182880">
            <a:no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algn="just" eaLnBrk="1" hangingPunct="1"/>
            <a:r>
              <a:rPr lang="en-US" sz="3000" dirty="0">
                <a:latin typeface="Times New Roman" panose="02020603050405020304" pitchFamily="18" charset="0"/>
                <a:cs typeface="Times New Roman" panose="02020603050405020304" pitchFamily="18" charset="0"/>
              </a:rPr>
              <a:t>As global population growth and industrialization continue, waste management is environmental challenge. Improper segregation of recyclable materials such as plastic and paper increases landfill usage, pollution, and resource loss. Manual waste sorting is inefficient, time-consuming, and prone to human error in household and industrial environments. To address issues, automated waste classification systems using computer vision and machine learning have gained attention. Traditional image processing methods were initially used for waste identification; however, they showed limited robustness in real-world conditions due to variations in lighting, background, and object appearance [1]. With deep learning advancements, CNN-based approaches improve accuracy. For instance, </a:t>
            </a:r>
            <a:r>
              <a:rPr lang="en-US" sz="3000" dirty="0" err="1">
                <a:latin typeface="Times New Roman" panose="02020603050405020304" pitchFamily="18" charset="0"/>
                <a:cs typeface="Times New Roman" panose="02020603050405020304" pitchFamily="18" charset="0"/>
              </a:rPr>
              <a:t>WasteNet</a:t>
            </a:r>
            <a:r>
              <a:rPr lang="en-US" sz="3000" dirty="0">
                <a:latin typeface="Times New Roman" panose="02020603050405020304" pitchFamily="18" charset="0"/>
                <a:cs typeface="Times New Roman" panose="02020603050405020304" pitchFamily="18" charset="0"/>
              </a:rPr>
              <a:t> achieved strong performance in multi-class waste classification and demonstrated suitability for edge deployment [2]. Additionally, lightweight models such as </a:t>
            </a:r>
            <a:r>
              <a:rPr lang="en-US" sz="3000" dirty="0" err="1">
                <a:latin typeface="Times New Roman" panose="02020603050405020304" pitchFamily="18" charset="0"/>
                <a:cs typeface="Times New Roman" panose="02020603050405020304" pitchFamily="18" charset="0"/>
              </a:rPr>
              <a:t>EfficientNet</a:t>
            </a:r>
            <a:r>
              <a:rPr lang="en-US" sz="3000" dirty="0">
                <a:latin typeface="Times New Roman" panose="02020603050405020304" pitchFamily="18" charset="0"/>
                <a:cs typeface="Times New Roman" panose="02020603050405020304" pitchFamily="18" charset="0"/>
              </a:rPr>
              <a:t> provide high accuracy with low computational cost suitable for real-time embedded applications [3]. Despite these advancements, most systems focus mainly on software-level classification and lack physical actuation integration. This gap motivates development of an integrated system combining real-time detection with embedded hardware for automated waste segregation. of this project is to design a low-cost scalable solution that detects plastic and paper waste in real time and improves recycling </a:t>
            </a:r>
            <a:r>
              <a:rPr lang="en-US" sz="3000" dirty="0" smtClean="0">
                <a:latin typeface="Times New Roman" panose="02020603050405020304" pitchFamily="18" charset="0"/>
                <a:cs typeface="Times New Roman" panose="02020603050405020304" pitchFamily="18" charset="0"/>
              </a:rPr>
              <a:t>efficiency.</a:t>
            </a:r>
            <a:endParaRPr lang="en-US" sz="3000" dirty="0">
              <a:latin typeface="Times New Roman" panose="02020603050405020304" pitchFamily="18" charset="0"/>
              <a:cs typeface="Times New Roman" panose="02020603050405020304" pitchFamily="18" charset="0"/>
            </a:endParaRPr>
          </a:p>
        </p:txBody>
      </p:sp>
      <p:sp>
        <p:nvSpPr>
          <p:cNvPr id="45" name="Rectangle 44"/>
          <p:cNvSpPr/>
          <p:nvPr/>
        </p:nvSpPr>
        <p:spPr>
          <a:xfrm>
            <a:off x="14173200" y="6096000"/>
            <a:ext cx="12159532" cy="73152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smtClean="0">
                <a:solidFill>
                  <a:schemeClr val="accent3">
                    <a:lumMod val="20000"/>
                    <a:lumOff val="80000"/>
                  </a:schemeClr>
                </a:solidFill>
              </a:rPr>
              <a:t>Prototype Models &amp; Result Analysis</a:t>
            </a:r>
            <a:endParaRPr lang="en-US" sz="5400" b="1" dirty="0">
              <a:solidFill>
                <a:schemeClr val="accent3">
                  <a:lumMod val="20000"/>
                  <a:lumOff val="80000"/>
                </a:schemeClr>
              </a:solidFill>
            </a:endParaRPr>
          </a:p>
        </p:txBody>
      </p:sp>
      <p:sp>
        <p:nvSpPr>
          <p:cNvPr id="9" name="Rectangle 265">
            <a:extLst>
              <a:ext uri="{FF2B5EF4-FFF2-40B4-BE49-F238E27FC236}">
                <a16:creationId xmlns:a16="http://schemas.microsoft.com/office/drawing/2014/main" xmlns="" id="{CF666357-511C-E9CD-868D-15F0C41709DE}"/>
              </a:ext>
            </a:extLst>
          </p:cNvPr>
          <p:cNvSpPr>
            <a:spLocks noChangeArrowheads="1"/>
          </p:cNvSpPr>
          <p:nvPr/>
        </p:nvSpPr>
        <p:spPr bwMode="auto">
          <a:xfrm>
            <a:off x="685800" y="42837485"/>
            <a:ext cx="10241280" cy="2270760"/>
          </a:xfrm>
          <a:prstGeom prst="rect">
            <a:avLst/>
          </a:prstGeom>
          <a:blipFill dpi="0" rotWithShape="1">
            <a:blip r:embed="rId2">
              <a:extLst>
                <a:ext uri="{28A0092B-C50C-407E-A947-70E740481C1C}">
                  <a14:useLocalDpi xmlns:a14="http://schemas.microsoft.com/office/drawing/2010/main" val="0"/>
                </a:ext>
              </a:extLst>
            </a:blip>
            <a:srcRect/>
            <a:stretch>
              <a:fillRect/>
            </a:stretch>
          </a:blipFill>
          <a:ln w="9525">
            <a:noFill/>
            <a:miter lim="800000"/>
            <a:headEnd/>
            <a:tailEnd/>
          </a:ln>
          <a:effectLst/>
        </p:spPr>
        <p:txBody>
          <a:bodyPr lIns="83814" tIns="41907" rIns="83814" bIns="41907" anchor="ctr"/>
          <a:lstStyle/>
          <a:p>
            <a:pPr algn="ctr" defTabSz="4022725"/>
            <a:endParaRPr lang="en-US" sz="2000" b="1" dirty="0">
              <a:latin typeface="Calibri" pitchFamily="34" charset="0"/>
            </a:endParaRPr>
          </a:p>
        </p:txBody>
      </p:sp>
      <p:sp>
        <p:nvSpPr>
          <p:cNvPr id="39" name="Rectangle 38"/>
          <p:cNvSpPr/>
          <p:nvPr/>
        </p:nvSpPr>
        <p:spPr>
          <a:xfrm>
            <a:off x="1319986" y="32721515"/>
            <a:ext cx="12371425" cy="731520"/>
          </a:xfrm>
          <a:prstGeom prst="rect">
            <a:avLst/>
          </a:prstGeom>
          <a:solidFill>
            <a:schemeClr val="accent1">
              <a:lumMod val="75000"/>
            </a:schemeClr>
          </a:solid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smtClean="0">
                <a:solidFill>
                  <a:schemeClr val="accent3">
                    <a:lumMod val="20000"/>
                    <a:lumOff val="80000"/>
                  </a:schemeClr>
                </a:solidFill>
              </a:rPr>
              <a:t>Methodology Model</a:t>
            </a:r>
            <a:endParaRPr lang="en-US" sz="5400" b="1" dirty="0">
              <a:solidFill>
                <a:schemeClr val="accent3">
                  <a:lumMod val="20000"/>
                  <a:lumOff val="80000"/>
                </a:schemeClr>
              </a:solidFill>
            </a:endParaRPr>
          </a:p>
        </p:txBody>
      </p:sp>
      <p:pic>
        <p:nvPicPr>
          <p:cNvPr id="40" name="Picture 39"/>
          <p:cNvPicPr/>
          <p:nvPr/>
        </p:nvPicPr>
        <p:blipFill rotWithShape="1">
          <a:blip r:embed="rId3" cstate="print">
            <a:extLst>
              <a:ext uri="{28A0092B-C50C-407E-A947-70E740481C1C}">
                <a14:useLocalDpi xmlns:a14="http://schemas.microsoft.com/office/drawing/2010/main" val="0"/>
              </a:ext>
            </a:extLst>
          </a:blip>
          <a:srcRect b="7658"/>
          <a:stretch/>
        </p:blipFill>
        <p:spPr>
          <a:xfrm>
            <a:off x="2905003" y="33613250"/>
            <a:ext cx="10445237" cy="6016591"/>
          </a:xfrm>
          <a:prstGeom prst="rect">
            <a:avLst/>
          </a:prstGeom>
        </p:spPr>
      </p:pic>
      <p:pic>
        <p:nvPicPr>
          <p:cNvPr id="41" name="image8.png"/>
          <p:cNvPicPr/>
          <p:nvPr/>
        </p:nvPicPr>
        <p:blipFill>
          <a:blip r:embed="rId4"/>
          <a:srcRect/>
          <a:stretch>
            <a:fillRect/>
          </a:stretch>
        </p:blipFill>
        <p:spPr>
          <a:xfrm>
            <a:off x="14193253" y="6885604"/>
            <a:ext cx="3932481" cy="3161615"/>
          </a:xfrm>
          <a:prstGeom prst="rect">
            <a:avLst/>
          </a:prstGeom>
        </p:spPr>
      </p:pic>
      <p:pic>
        <p:nvPicPr>
          <p:cNvPr id="42" name="image4.png"/>
          <p:cNvPicPr/>
          <p:nvPr/>
        </p:nvPicPr>
        <p:blipFill rotWithShape="1">
          <a:blip r:embed="rId5"/>
          <a:srcRect l="8283" r="4740"/>
          <a:stretch/>
        </p:blipFill>
        <p:spPr>
          <a:xfrm>
            <a:off x="18582936" y="6949440"/>
            <a:ext cx="3544320" cy="3153889"/>
          </a:xfrm>
          <a:prstGeom prst="rect">
            <a:avLst/>
          </a:prstGeom>
        </p:spPr>
      </p:pic>
      <p:pic>
        <p:nvPicPr>
          <p:cNvPr id="43" name="Picture 42"/>
          <p:cNvPicPr/>
          <p:nvPr/>
        </p:nvPicPr>
        <p:blipFill>
          <a:blip r:embed="rId6" cstate="print">
            <a:extLst>
              <a:ext uri="{28A0092B-C50C-407E-A947-70E740481C1C}">
                <a14:useLocalDpi xmlns:a14="http://schemas.microsoft.com/office/drawing/2010/main" val="0"/>
              </a:ext>
            </a:extLst>
          </a:blip>
          <a:stretch>
            <a:fillRect/>
          </a:stretch>
        </p:blipFill>
        <p:spPr>
          <a:xfrm>
            <a:off x="22584457" y="6896386"/>
            <a:ext cx="3748275" cy="3206943"/>
          </a:xfrm>
          <a:prstGeom prst="rect">
            <a:avLst/>
          </a:prstGeom>
        </p:spPr>
      </p:pic>
      <p:sp>
        <p:nvSpPr>
          <p:cNvPr id="19" name="TextBox 18"/>
          <p:cNvSpPr txBox="1"/>
          <p:nvPr/>
        </p:nvSpPr>
        <p:spPr>
          <a:xfrm>
            <a:off x="14157899" y="10051271"/>
            <a:ext cx="3932481" cy="5513889"/>
          </a:xfrm>
          <a:prstGeom prst="rect">
            <a:avLst/>
          </a:prstGeom>
          <a:noFill/>
          <a:ln>
            <a:solidFill>
              <a:schemeClr val="accent1">
                <a:lumMod val="75000"/>
              </a:schemeClr>
            </a:solidFill>
          </a:ln>
        </p:spPr>
        <p:txBody>
          <a:bodyPr wrap="square" rtlCol="0">
            <a:noAutofit/>
          </a:bodyPr>
          <a:lstStyle/>
          <a:p>
            <a:pPr algn="ctr"/>
            <a:r>
              <a:rPr lang="en-US" altLang="zh-CN" sz="3000" b="1" dirty="0" smtClean="0">
                <a:latin typeface="Times New Roman" panose="02020603050405020304" pitchFamily="18" charset="0"/>
                <a:cs typeface="Times New Roman" panose="02020603050405020304" pitchFamily="18" charset="0"/>
              </a:rPr>
              <a:t>Figure 02:</a:t>
            </a:r>
          </a:p>
          <a:p>
            <a:pPr algn="ctr"/>
            <a:r>
              <a:rPr lang="en-US" altLang="zh-CN" sz="3000" b="1" dirty="0" smtClean="0">
                <a:latin typeface="Times New Roman" panose="02020603050405020304" pitchFamily="18" charset="0"/>
                <a:cs typeface="Times New Roman" panose="02020603050405020304" pitchFamily="18" charset="0"/>
              </a:rPr>
              <a:t>1</a:t>
            </a:r>
            <a:r>
              <a:rPr lang="en-US" altLang="zh-CN" sz="3000" b="1" baseline="30000" dirty="0" smtClean="0">
                <a:latin typeface="Times New Roman" panose="02020603050405020304" pitchFamily="18" charset="0"/>
                <a:cs typeface="Times New Roman" panose="02020603050405020304" pitchFamily="18" charset="0"/>
              </a:rPr>
              <a:t>st</a:t>
            </a:r>
            <a:r>
              <a:rPr lang="en-US" altLang="zh-CN" sz="3000" b="1" dirty="0" smtClean="0">
                <a:latin typeface="Times New Roman" panose="02020603050405020304" pitchFamily="18" charset="0"/>
                <a:cs typeface="Times New Roman" panose="02020603050405020304" pitchFamily="18" charset="0"/>
              </a:rPr>
              <a:t> Prototype</a:t>
            </a:r>
          </a:p>
          <a:p>
            <a:pPr marL="457200" indent="-457200">
              <a:buFont typeface="Arial" panose="020B0604020202020204" pitchFamily="34" charset="0"/>
              <a:buChar char="•"/>
            </a:pPr>
            <a:r>
              <a:rPr lang="en-US" altLang="zh-CN" sz="2800" dirty="0" smtClean="0">
                <a:latin typeface="Times New Roman" panose="02020603050405020304" pitchFamily="18" charset="0"/>
                <a:cs typeface="Times New Roman" panose="02020603050405020304" pitchFamily="18" charset="0"/>
              </a:rPr>
              <a:t>Single </a:t>
            </a:r>
            <a:r>
              <a:rPr lang="en-US" altLang="zh-CN" sz="2800" dirty="0">
                <a:latin typeface="Times New Roman" panose="02020603050405020304" pitchFamily="18" charset="0"/>
                <a:cs typeface="Times New Roman" panose="02020603050405020304" pitchFamily="18" charset="0"/>
              </a:rPr>
              <a:t>dustbin with one SG90 servo motor connected to Arduino </a:t>
            </a:r>
            <a:r>
              <a:rPr lang="en-US" altLang="zh-CN" sz="2800" dirty="0" smtClean="0">
                <a:latin typeface="Times New Roman" panose="02020603050405020304" pitchFamily="18" charset="0"/>
                <a:cs typeface="Times New Roman" panose="02020603050405020304" pitchFamily="18" charset="0"/>
              </a:rPr>
              <a:t>Uno</a:t>
            </a:r>
          </a:p>
          <a:p>
            <a:pPr marL="457200" indent="-457200">
              <a:buFont typeface="Arial" panose="020B0604020202020204" pitchFamily="34" charset="0"/>
              <a:buChar char="•"/>
            </a:pPr>
            <a:r>
              <a:rPr lang="en-US" altLang="zh-CN" sz="2800" dirty="0">
                <a:latin typeface="Times New Roman" panose="02020603050405020304" pitchFamily="18" charset="0"/>
                <a:cs typeface="Times New Roman" panose="02020603050405020304" pitchFamily="18" charset="0"/>
              </a:rPr>
              <a:t>Basic lid actuation successfully tested, validating the feasibility of automated bin opening and closing.</a:t>
            </a:r>
            <a:endParaRPr lang="en-US" sz="2800" dirty="0">
              <a:latin typeface="Times New Roman" panose="02020603050405020304" pitchFamily="18" charset="0"/>
              <a:cs typeface="Times New Roman" panose="02020603050405020304" pitchFamily="18" charset="0"/>
            </a:endParaRPr>
          </a:p>
        </p:txBody>
      </p:sp>
      <p:sp>
        <p:nvSpPr>
          <p:cNvPr id="46" name="TextBox 45"/>
          <p:cNvSpPr txBox="1"/>
          <p:nvPr/>
        </p:nvSpPr>
        <p:spPr>
          <a:xfrm>
            <a:off x="18398451" y="10159169"/>
            <a:ext cx="3728806" cy="5461831"/>
          </a:xfrm>
          <a:prstGeom prst="rect">
            <a:avLst/>
          </a:prstGeom>
          <a:noFill/>
          <a:ln>
            <a:solidFill>
              <a:schemeClr val="accent1">
                <a:lumMod val="75000"/>
              </a:schemeClr>
            </a:solidFill>
          </a:ln>
        </p:spPr>
        <p:txBody>
          <a:bodyPr wrap="square" rtlCol="0">
            <a:noAutofit/>
          </a:bodyPr>
          <a:lstStyle/>
          <a:p>
            <a:pPr algn="ctr"/>
            <a:r>
              <a:rPr lang="en-US" altLang="zh-CN" sz="3000" b="1" dirty="0" smtClean="0">
                <a:latin typeface="Times New Roman" panose="02020603050405020304" pitchFamily="18" charset="0"/>
                <a:cs typeface="Times New Roman" panose="02020603050405020304" pitchFamily="18" charset="0"/>
              </a:rPr>
              <a:t>Figure 03:</a:t>
            </a:r>
          </a:p>
          <a:p>
            <a:pPr algn="ctr"/>
            <a:r>
              <a:rPr lang="en-US" altLang="zh-CN" sz="3000" b="1" dirty="0" smtClean="0">
                <a:latin typeface="Times New Roman" panose="02020603050405020304" pitchFamily="18" charset="0"/>
                <a:cs typeface="Times New Roman" panose="02020603050405020304" pitchFamily="18" charset="0"/>
              </a:rPr>
              <a:t>2</a:t>
            </a:r>
            <a:r>
              <a:rPr lang="en-US" altLang="zh-CN" sz="3000" b="1" baseline="30000" dirty="0" smtClean="0">
                <a:latin typeface="Times New Roman" panose="02020603050405020304" pitchFamily="18" charset="0"/>
                <a:cs typeface="Times New Roman" panose="02020603050405020304" pitchFamily="18" charset="0"/>
              </a:rPr>
              <a:t>nd</a:t>
            </a:r>
            <a:r>
              <a:rPr lang="en-US" altLang="zh-CN" sz="3000" b="1" dirty="0" smtClean="0">
                <a:latin typeface="Times New Roman" panose="02020603050405020304" pitchFamily="18" charset="0"/>
                <a:cs typeface="Times New Roman" panose="02020603050405020304" pitchFamily="18" charset="0"/>
              </a:rPr>
              <a:t> Prototype</a:t>
            </a:r>
          </a:p>
          <a:p>
            <a:pPr marL="457200" indent="-457200">
              <a:buFont typeface="Arial" panose="020B0604020202020204" pitchFamily="34" charset="0"/>
              <a:buChar char="•"/>
            </a:pPr>
            <a:r>
              <a:rPr lang="en-US" altLang="zh-CN" sz="2800" dirty="0" smtClean="0">
                <a:latin typeface="Times New Roman" panose="02020603050405020304" pitchFamily="18" charset="0"/>
                <a:cs typeface="Times New Roman" panose="02020603050405020304" pitchFamily="18" charset="0"/>
              </a:rPr>
              <a:t>Dual </a:t>
            </a:r>
            <a:r>
              <a:rPr lang="en-US" altLang="zh-CN" sz="2800" dirty="0">
                <a:latin typeface="Times New Roman" panose="02020603050405020304" pitchFamily="18" charset="0"/>
                <a:cs typeface="Times New Roman" panose="02020603050405020304" pitchFamily="18" charset="0"/>
              </a:rPr>
              <a:t>dustbins with two synchronized SG90 servo motors</a:t>
            </a:r>
            <a:r>
              <a:rPr lang="zh-CN" altLang="en-US" sz="2800" dirty="0">
                <a:latin typeface="Times New Roman" panose="02020603050405020304" pitchFamily="18" charset="0"/>
                <a:cs typeface="Times New Roman" panose="02020603050405020304" pitchFamily="18" charset="0"/>
              </a:rPr>
              <a:t> </a:t>
            </a:r>
            <a:r>
              <a:rPr lang="en-US" altLang="zh-CN" sz="2800" dirty="0">
                <a:latin typeface="Times New Roman" panose="02020603050405020304" pitchFamily="18" charset="0"/>
                <a:cs typeface="Times New Roman" panose="02020603050405020304" pitchFamily="18" charset="0"/>
              </a:rPr>
              <a:t>per bin</a:t>
            </a:r>
            <a:r>
              <a:rPr lang="en-US" altLang="zh-CN" sz="2800" dirty="0" smtClean="0">
                <a:latin typeface="Times New Roman" panose="02020603050405020304" pitchFamily="18" charset="0"/>
                <a:cs typeface="Times New Roman" panose="02020603050405020304" pitchFamily="18" charset="0"/>
              </a:rPr>
              <a:t>.</a:t>
            </a:r>
          </a:p>
          <a:p>
            <a:pPr marL="457200" indent="-457200">
              <a:buFont typeface="Arial" panose="020B0604020202020204" pitchFamily="34" charset="0"/>
              <a:buChar char="•"/>
            </a:pPr>
            <a:r>
              <a:rPr lang="en-US" altLang="zh-CN" sz="2800" dirty="0">
                <a:latin typeface="Times New Roman" panose="02020603050405020304" pitchFamily="18" charset="0"/>
                <a:cs typeface="Times New Roman" panose="02020603050405020304" pitchFamily="18" charset="0"/>
              </a:rPr>
              <a:t>Arduino Uno programmed for synchronized lid movement to ensure smooth operation</a:t>
            </a:r>
            <a:r>
              <a:rPr lang="en-US" altLang="zh-CN" sz="2800" dirty="0" smtClean="0">
                <a:latin typeface="Times New Roman" panose="02020603050405020304" pitchFamily="18" charset="0"/>
                <a:cs typeface="Times New Roman" panose="02020603050405020304" pitchFamily="18" charset="0"/>
              </a:rPr>
              <a:t>.</a:t>
            </a:r>
          </a:p>
          <a:p>
            <a:pPr marL="457200" indent="-457200">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Implemented Camera</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p:txBody>
      </p:sp>
      <p:sp>
        <p:nvSpPr>
          <p:cNvPr id="47" name="TextBox 46"/>
          <p:cNvSpPr txBox="1"/>
          <p:nvPr/>
        </p:nvSpPr>
        <p:spPr>
          <a:xfrm>
            <a:off x="22484815" y="10144187"/>
            <a:ext cx="3847917" cy="5420973"/>
          </a:xfrm>
          <a:prstGeom prst="rect">
            <a:avLst/>
          </a:prstGeom>
          <a:noFill/>
          <a:ln>
            <a:solidFill>
              <a:schemeClr val="accent1">
                <a:lumMod val="75000"/>
              </a:schemeClr>
            </a:solidFill>
          </a:ln>
        </p:spPr>
        <p:txBody>
          <a:bodyPr wrap="square" rtlCol="0">
            <a:noAutofit/>
          </a:bodyPr>
          <a:lstStyle/>
          <a:p>
            <a:pPr algn="ctr"/>
            <a:r>
              <a:rPr lang="en-US" altLang="zh-CN" sz="3000" b="1" dirty="0" smtClean="0">
                <a:latin typeface="Times New Roman" panose="02020603050405020304" pitchFamily="18" charset="0"/>
                <a:cs typeface="Times New Roman" panose="02020603050405020304" pitchFamily="18" charset="0"/>
              </a:rPr>
              <a:t>Figure04:</a:t>
            </a:r>
          </a:p>
          <a:p>
            <a:pPr algn="ctr"/>
            <a:r>
              <a:rPr lang="en-US" altLang="zh-CN" sz="3000" b="1" dirty="0" smtClean="0">
                <a:latin typeface="Times New Roman" panose="02020603050405020304" pitchFamily="18" charset="0"/>
                <a:cs typeface="Times New Roman" panose="02020603050405020304" pitchFamily="18" charset="0"/>
              </a:rPr>
              <a:t>3</a:t>
            </a:r>
            <a:r>
              <a:rPr lang="en-US" altLang="zh-CN" sz="3000" b="1" baseline="30000" dirty="0" smtClean="0">
                <a:latin typeface="Times New Roman" panose="02020603050405020304" pitchFamily="18" charset="0"/>
                <a:cs typeface="Times New Roman" panose="02020603050405020304" pitchFamily="18" charset="0"/>
              </a:rPr>
              <a:t>rd</a:t>
            </a:r>
            <a:r>
              <a:rPr lang="en-US" altLang="zh-CN" sz="3000" b="1" dirty="0" smtClean="0">
                <a:latin typeface="Times New Roman" panose="02020603050405020304" pitchFamily="18" charset="0"/>
                <a:cs typeface="Times New Roman" panose="02020603050405020304" pitchFamily="18" charset="0"/>
              </a:rPr>
              <a:t> Prototype</a:t>
            </a:r>
          </a:p>
          <a:p>
            <a:pPr marL="457200" indent="-457200">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Two bin </a:t>
            </a:r>
            <a:r>
              <a:rPr lang="en-US" sz="2800" dirty="0">
                <a:latin typeface="Times New Roman" panose="02020603050405020304" pitchFamily="18" charset="0"/>
                <a:cs typeface="Times New Roman" panose="02020603050405020304" pitchFamily="18" charset="0"/>
              </a:rPr>
              <a:t>system </a:t>
            </a:r>
            <a:r>
              <a:rPr lang="en-US" sz="2800" dirty="0" smtClean="0">
                <a:latin typeface="Times New Roman" panose="02020603050405020304" pitchFamily="18" charset="0"/>
                <a:cs typeface="Times New Roman" panose="02020603050405020304" pitchFamily="18" charset="0"/>
              </a:rPr>
              <a:t>setup </a:t>
            </a:r>
            <a:r>
              <a:rPr lang="en-US" sz="2800" dirty="0">
                <a:latin typeface="Times New Roman" panose="02020603050405020304" pitchFamily="18" charset="0"/>
                <a:cs typeface="Times New Roman" panose="02020603050405020304" pitchFamily="18" charset="0"/>
              </a:rPr>
              <a:t>for real-world use</a:t>
            </a:r>
            <a:r>
              <a:rPr lang="en-US" sz="2800" dirty="0" smtClean="0">
                <a:latin typeface="Times New Roman" panose="02020603050405020304" pitchFamily="18" charset="0"/>
                <a:cs typeface="Times New Roman" panose="02020603050405020304" pitchFamily="18" charset="0"/>
              </a:rPr>
              <a:t>.</a:t>
            </a:r>
          </a:p>
          <a:p>
            <a:pPr marL="457200" indent="-457200">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YOLOv8n-model </a:t>
            </a:r>
            <a:r>
              <a:rPr lang="en-US" sz="2800" dirty="0">
                <a:latin typeface="Times New Roman" panose="02020603050405020304" pitchFamily="18" charset="0"/>
                <a:cs typeface="Times New Roman" panose="02020603050405020304" pitchFamily="18" charset="0"/>
              </a:rPr>
              <a:t>deployed on a computer for real-time detection. </a:t>
            </a:r>
            <a:endParaRPr lang="en-US" sz="2800" dirty="0" smtClean="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The </a:t>
            </a:r>
            <a:r>
              <a:rPr lang="en-US" sz="2800" dirty="0">
                <a:latin typeface="Times New Roman" panose="02020603050405020304" pitchFamily="18" charset="0"/>
                <a:cs typeface="Times New Roman" panose="02020603050405020304" pitchFamily="18" charset="0"/>
              </a:rPr>
              <a:t>system accurately detects waste </a:t>
            </a:r>
            <a:r>
              <a:rPr lang="en-US" sz="2800" dirty="0" smtClean="0">
                <a:latin typeface="Times New Roman" panose="02020603050405020304" pitchFamily="18" charset="0"/>
                <a:cs typeface="Times New Roman" panose="02020603050405020304" pitchFamily="18" charset="0"/>
              </a:rPr>
              <a:t>and </a:t>
            </a:r>
            <a:r>
              <a:rPr lang="en-US" sz="2800" dirty="0">
                <a:latin typeface="Times New Roman" panose="02020603050405020304" pitchFamily="18" charset="0"/>
                <a:cs typeface="Times New Roman" panose="02020603050405020304" pitchFamily="18" charset="0"/>
              </a:rPr>
              <a:t>automatically opens the corresponding </a:t>
            </a:r>
            <a:r>
              <a:rPr lang="en-US" sz="2800" dirty="0" smtClean="0">
                <a:latin typeface="Times New Roman" panose="02020603050405020304" pitchFamily="18" charset="0"/>
                <a:cs typeface="Times New Roman" panose="02020603050405020304" pitchFamily="18" charset="0"/>
              </a:rPr>
              <a:t>bin</a:t>
            </a:r>
          </a:p>
        </p:txBody>
      </p:sp>
      <p:graphicFrame>
        <p:nvGraphicFramePr>
          <p:cNvPr id="20" name="Table 19"/>
          <p:cNvGraphicFramePr>
            <a:graphicFrameLocks noGrp="1"/>
          </p:cNvGraphicFramePr>
          <p:nvPr>
            <p:extLst>
              <p:ext uri="{D42A27DB-BD31-4B8C-83A1-F6EECF244321}">
                <p14:modId xmlns:p14="http://schemas.microsoft.com/office/powerpoint/2010/main" val="3811049014"/>
              </p:ext>
            </p:extLst>
          </p:nvPr>
        </p:nvGraphicFramePr>
        <p:xfrm>
          <a:off x="14173200" y="15849784"/>
          <a:ext cx="12283504" cy="3970809"/>
        </p:xfrm>
        <a:graphic>
          <a:graphicData uri="http://schemas.openxmlformats.org/drawingml/2006/table">
            <a:tbl>
              <a:tblPr firstRow="1" bandRow="1">
                <a:tableStyleId>{5C22544A-7EE6-4342-B048-85BDC9FD1C3A}</a:tableStyleId>
              </a:tblPr>
              <a:tblGrid>
                <a:gridCol w="3157406"/>
                <a:gridCol w="3157406"/>
                <a:gridCol w="2984346"/>
                <a:gridCol w="2984346"/>
              </a:tblGrid>
              <a:tr h="1323603">
                <a:tc>
                  <a:txBody>
                    <a:bodyPr/>
                    <a:lstStyle/>
                    <a:p>
                      <a:pPr algn="ctr"/>
                      <a:r>
                        <a:rPr lang="en-US" sz="3000" dirty="0" smtClean="0">
                          <a:latin typeface="Times New Roman" panose="02020603050405020304" pitchFamily="18" charset="0"/>
                          <a:cs typeface="Times New Roman" panose="02020603050405020304" pitchFamily="18" charset="0"/>
                        </a:rPr>
                        <a:t>Model</a:t>
                      </a:r>
                      <a:r>
                        <a:rPr lang="en-US" sz="3000" baseline="0" dirty="0" smtClean="0">
                          <a:latin typeface="Times New Roman" panose="02020603050405020304" pitchFamily="18" charset="0"/>
                          <a:cs typeface="Times New Roman" panose="02020603050405020304" pitchFamily="18" charset="0"/>
                        </a:rPr>
                        <a:t> Name</a:t>
                      </a:r>
                      <a:endParaRPr lang="en-US" sz="3000" dirty="0">
                        <a:latin typeface="Times New Roman" panose="02020603050405020304" pitchFamily="18" charset="0"/>
                        <a:cs typeface="Times New Roman" panose="02020603050405020304" pitchFamily="18" charset="0"/>
                      </a:endParaRPr>
                    </a:p>
                  </a:txBody>
                  <a:tcPr/>
                </a:tc>
                <a:tc>
                  <a:txBody>
                    <a:bodyPr/>
                    <a:lstStyle/>
                    <a:p>
                      <a:pPr algn="ctr"/>
                      <a:r>
                        <a:rPr lang="en-US" sz="3000" dirty="0" smtClean="0">
                          <a:latin typeface="Times New Roman" panose="02020603050405020304" pitchFamily="18" charset="0"/>
                          <a:cs typeface="Times New Roman" panose="02020603050405020304" pitchFamily="18" charset="0"/>
                        </a:rPr>
                        <a:t>Precision</a:t>
                      </a:r>
                      <a:endParaRPr lang="en-US" sz="3000" dirty="0">
                        <a:latin typeface="Times New Roman" panose="02020603050405020304" pitchFamily="18" charset="0"/>
                        <a:cs typeface="Times New Roman" panose="02020603050405020304" pitchFamily="18" charset="0"/>
                      </a:endParaRPr>
                    </a:p>
                  </a:txBody>
                  <a:tcPr/>
                </a:tc>
                <a:tc>
                  <a:txBody>
                    <a:bodyPr/>
                    <a:lstStyle/>
                    <a:p>
                      <a:pPr algn="ctr"/>
                      <a:r>
                        <a:rPr lang="en-US" sz="3000" dirty="0" smtClean="0">
                          <a:latin typeface="Times New Roman" panose="02020603050405020304" pitchFamily="18" charset="0"/>
                          <a:cs typeface="Times New Roman" panose="02020603050405020304" pitchFamily="18" charset="0"/>
                        </a:rPr>
                        <a:t>MAP@50:95</a:t>
                      </a:r>
                      <a:endParaRPr lang="en-US" sz="3000" dirty="0">
                        <a:latin typeface="Times New Roman" panose="02020603050405020304" pitchFamily="18" charset="0"/>
                        <a:cs typeface="Times New Roman" panose="02020603050405020304" pitchFamily="18" charset="0"/>
                      </a:endParaRPr>
                    </a:p>
                  </a:txBody>
                  <a:tcPr/>
                </a:tc>
                <a:tc>
                  <a:txBody>
                    <a:bodyPr/>
                    <a:lstStyle/>
                    <a:p>
                      <a:pPr algn="ctr"/>
                      <a:r>
                        <a:rPr lang="en-US" sz="3000" dirty="0" smtClean="0">
                          <a:latin typeface="Times New Roman" panose="02020603050405020304" pitchFamily="18" charset="0"/>
                          <a:cs typeface="Times New Roman" panose="02020603050405020304" pitchFamily="18" charset="0"/>
                        </a:rPr>
                        <a:t>Weight</a:t>
                      </a:r>
                      <a:endParaRPr lang="en-US" sz="3000" dirty="0">
                        <a:latin typeface="Times New Roman" panose="02020603050405020304" pitchFamily="18" charset="0"/>
                        <a:cs typeface="Times New Roman" panose="02020603050405020304" pitchFamily="18" charset="0"/>
                      </a:endParaRPr>
                    </a:p>
                  </a:txBody>
                  <a:tcPr/>
                </a:tc>
              </a:tr>
              <a:tr h="1323603">
                <a:tc>
                  <a:txBody>
                    <a:bodyPr/>
                    <a:lstStyle/>
                    <a:p>
                      <a:pPr algn="ctr"/>
                      <a:r>
                        <a:rPr lang="en-US" sz="3000" dirty="0" smtClean="0">
                          <a:latin typeface="Times New Roman" panose="02020603050405020304" pitchFamily="18" charset="0"/>
                          <a:cs typeface="Times New Roman" panose="02020603050405020304" pitchFamily="18" charset="0"/>
                        </a:rPr>
                        <a:t>YOLO</a:t>
                      </a:r>
                      <a:r>
                        <a:rPr lang="en-US" sz="3000" baseline="0" dirty="0" smtClean="0">
                          <a:latin typeface="Times New Roman" panose="02020603050405020304" pitchFamily="18" charset="0"/>
                          <a:cs typeface="Times New Roman" panose="02020603050405020304" pitchFamily="18" charset="0"/>
                        </a:rPr>
                        <a:t> v8n</a:t>
                      </a:r>
                      <a:endParaRPr lang="en-US" sz="3000" dirty="0">
                        <a:latin typeface="Times New Roman" panose="02020603050405020304" pitchFamily="18" charset="0"/>
                        <a:cs typeface="Times New Roman" panose="02020603050405020304" pitchFamily="18" charset="0"/>
                      </a:endParaRPr>
                    </a:p>
                  </a:txBody>
                  <a:tcPr/>
                </a:tc>
                <a:tc>
                  <a:txBody>
                    <a:bodyPr/>
                    <a:lstStyle/>
                    <a:p>
                      <a:pPr algn="ctr"/>
                      <a:r>
                        <a:rPr lang="en-US" sz="3000" dirty="0" smtClean="0">
                          <a:latin typeface="Times New Roman" panose="02020603050405020304" pitchFamily="18" charset="0"/>
                          <a:cs typeface="Times New Roman" panose="02020603050405020304" pitchFamily="18" charset="0"/>
                        </a:rPr>
                        <a:t>0.8861</a:t>
                      </a:r>
                      <a:endParaRPr lang="en-US" sz="3000" dirty="0">
                        <a:latin typeface="Times New Roman" panose="02020603050405020304" pitchFamily="18" charset="0"/>
                        <a:cs typeface="Times New Roman" panose="02020603050405020304" pitchFamily="18" charset="0"/>
                      </a:endParaRPr>
                    </a:p>
                  </a:txBody>
                  <a:tcPr/>
                </a:tc>
                <a:tc>
                  <a:txBody>
                    <a:bodyPr/>
                    <a:lstStyle/>
                    <a:p>
                      <a:pPr algn="ctr"/>
                      <a:r>
                        <a:rPr lang="en-US" sz="3000" dirty="0" smtClean="0">
                          <a:latin typeface="Times New Roman" panose="02020603050405020304" pitchFamily="18" charset="0"/>
                          <a:cs typeface="Times New Roman" panose="02020603050405020304" pitchFamily="18" charset="0"/>
                        </a:rPr>
                        <a:t>0.7251</a:t>
                      </a:r>
                      <a:endParaRPr lang="en-US" sz="3000" dirty="0">
                        <a:latin typeface="Times New Roman" panose="02020603050405020304" pitchFamily="18" charset="0"/>
                        <a:cs typeface="Times New Roman" panose="02020603050405020304" pitchFamily="18" charset="0"/>
                      </a:endParaRPr>
                    </a:p>
                  </a:txBody>
                  <a:tcPr/>
                </a:tc>
                <a:tc>
                  <a:txBody>
                    <a:bodyPr/>
                    <a:lstStyle/>
                    <a:p>
                      <a:pPr algn="ctr"/>
                      <a:r>
                        <a:rPr lang="en-US" sz="3000" dirty="0" smtClean="0">
                          <a:latin typeface="Times New Roman" panose="02020603050405020304" pitchFamily="18" charset="0"/>
                          <a:cs typeface="Times New Roman" panose="02020603050405020304" pitchFamily="18" charset="0"/>
                        </a:rPr>
                        <a:t>5.94 MB</a:t>
                      </a:r>
                      <a:endParaRPr lang="en-US" sz="3000" dirty="0">
                        <a:latin typeface="Times New Roman" panose="02020603050405020304" pitchFamily="18" charset="0"/>
                        <a:cs typeface="Times New Roman" panose="02020603050405020304" pitchFamily="18" charset="0"/>
                      </a:endParaRPr>
                    </a:p>
                  </a:txBody>
                  <a:tcPr/>
                </a:tc>
              </a:tr>
              <a:tr h="1323603">
                <a:tc>
                  <a:txBody>
                    <a:bodyPr/>
                    <a:lstStyle/>
                    <a:p>
                      <a:pPr algn="ctr"/>
                      <a:r>
                        <a:rPr lang="en-US" sz="3000" dirty="0" smtClean="0">
                          <a:latin typeface="Times New Roman" panose="02020603050405020304" pitchFamily="18" charset="0"/>
                          <a:cs typeface="Times New Roman" panose="02020603050405020304" pitchFamily="18" charset="0"/>
                        </a:rPr>
                        <a:t>YOLO</a:t>
                      </a:r>
                      <a:r>
                        <a:rPr lang="en-US" sz="3000" baseline="0" dirty="0" smtClean="0">
                          <a:latin typeface="Times New Roman" panose="02020603050405020304" pitchFamily="18" charset="0"/>
                          <a:cs typeface="Times New Roman" panose="02020603050405020304" pitchFamily="18" charset="0"/>
                        </a:rPr>
                        <a:t> v8m</a:t>
                      </a:r>
                      <a:endParaRPr lang="en-US" sz="3000" dirty="0">
                        <a:latin typeface="Times New Roman" panose="02020603050405020304" pitchFamily="18" charset="0"/>
                        <a:cs typeface="Times New Roman" panose="02020603050405020304" pitchFamily="18" charset="0"/>
                      </a:endParaRPr>
                    </a:p>
                  </a:txBody>
                  <a:tcPr/>
                </a:tc>
                <a:tc>
                  <a:txBody>
                    <a:bodyPr/>
                    <a:lstStyle/>
                    <a:p>
                      <a:pPr algn="ctr"/>
                      <a:r>
                        <a:rPr lang="en-US" sz="3000" dirty="0" smtClean="0">
                          <a:latin typeface="Times New Roman" panose="02020603050405020304" pitchFamily="18" charset="0"/>
                          <a:cs typeface="Times New Roman" panose="02020603050405020304" pitchFamily="18" charset="0"/>
                        </a:rPr>
                        <a:t>0.8864</a:t>
                      </a:r>
                      <a:endParaRPr lang="en-US" sz="3000" dirty="0">
                        <a:latin typeface="Times New Roman" panose="02020603050405020304" pitchFamily="18" charset="0"/>
                        <a:cs typeface="Times New Roman" panose="02020603050405020304" pitchFamily="18" charset="0"/>
                      </a:endParaRPr>
                    </a:p>
                  </a:txBody>
                  <a:tcPr/>
                </a:tc>
                <a:tc>
                  <a:txBody>
                    <a:bodyPr/>
                    <a:lstStyle/>
                    <a:p>
                      <a:pPr algn="ctr"/>
                      <a:r>
                        <a:rPr lang="en-US" sz="3000" dirty="0" smtClean="0">
                          <a:latin typeface="Times New Roman" panose="02020603050405020304" pitchFamily="18" charset="0"/>
                          <a:cs typeface="Times New Roman" panose="02020603050405020304" pitchFamily="18" charset="0"/>
                        </a:rPr>
                        <a:t>0.7259</a:t>
                      </a:r>
                      <a:endParaRPr lang="en-US" sz="3000" dirty="0">
                        <a:latin typeface="Times New Roman" panose="02020603050405020304" pitchFamily="18" charset="0"/>
                        <a:cs typeface="Times New Roman" panose="02020603050405020304" pitchFamily="18" charset="0"/>
                      </a:endParaRPr>
                    </a:p>
                  </a:txBody>
                  <a:tcPr/>
                </a:tc>
                <a:tc>
                  <a:txBody>
                    <a:bodyPr/>
                    <a:lstStyle/>
                    <a:p>
                      <a:pPr algn="ctr"/>
                      <a:r>
                        <a:rPr lang="en-US" sz="3000" dirty="0" smtClean="0">
                          <a:latin typeface="Times New Roman" panose="02020603050405020304" pitchFamily="18" charset="0"/>
                          <a:cs typeface="Times New Roman" panose="02020603050405020304" pitchFamily="18" charset="0"/>
                        </a:rPr>
                        <a:t>49.6 MB</a:t>
                      </a:r>
                      <a:endParaRPr lang="en-US" sz="3000" dirty="0">
                        <a:latin typeface="Times New Roman" panose="02020603050405020304" pitchFamily="18" charset="0"/>
                        <a:cs typeface="Times New Roman" panose="02020603050405020304" pitchFamily="18" charset="0"/>
                      </a:endParaRPr>
                    </a:p>
                  </a:txBody>
                  <a:tcPr/>
                </a:tc>
              </a:tr>
            </a:tbl>
          </a:graphicData>
        </a:graphic>
      </p:graphicFrame>
      <p:pic>
        <p:nvPicPr>
          <p:cNvPr id="21" name="Picture 2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302920" y="27761080"/>
            <a:ext cx="5818582" cy="6203142"/>
          </a:xfrm>
          <a:prstGeom prst="rect">
            <a:avLst/>
          </a:prstGeom>
        </p:spPr>
      </p:pic>
      <p:pic>
        <p:nvPicPr>
          <p:cNvPr id="22" name="Picture 2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4230331" y="27761080"/>
            <a:ext cx="6032523" cy="6122879"/>
          </a:xfrm>
          <a:prstGeom prst="rect">
            <a:avLst/>
          </a:prstGeom>
        </p:spPr>
      </p:pic>
      <p:sp>
        <p:nvSpPr>
          <p:cNvPr id="23" name="Rectangle 22"/>
          <p:cNvSpPr/>
          <p:nvPr/>
        </p:nvSpPr>
        <p:spPr>
          <a:xfrm>
            <a:off x="5410197" y="39457545"/>
            <a:ext cx="4267200" cy="7529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dirty="0" smtClean="0">
                <a:solidFill>
                  <a:schemeClr val="tx1"/>
                </a:solidFill>
                <a:latin typeface="Times New Roman" panose="02020603050405020304" pitchFamily="18" charset="0"/>
                <a:cs typeface="Times New Roman" panose="02020603050405020304" pitchFamily="18" charset="0"/>
              </a:rPr>
              <a:t>Figure 01:Hybrid Model</a:t>
            </a:r>
            <a:endParaRPr lang="en-US" sz="3000" dirty="0">
              <a:solidFill>
                <a:schemeClr val="tx1"/>
              </a:solidFill>
              <a:latin typeface="Times New Roman" panose="02020603050405020304" pitchFamily="18" charset="0"/>
              <a:cs typeface="Times New Roman" panose="02020603050405020304" pitchFamily="18" charset="0"/>
            </a:endParaRPr>
          </a:p>
        </p:txBody>
      </p:sp>
      <p:sp>
        <p:nvSpPr>
          <p:cNvPr id="24" name="TextBox 23"/>
          <p:cNvSpPr txBox="1"/>
          <p:nvPr/>
        </p:nvSpPr>
        <p:spPr>
          <a:xfrm>
            <a:off x="15621000" y="33964222"/>
            <a:ext cx="3276600" cy="954107"/>
          </a:xfrm>
          <a:prstGeom prst="rect">
            <a:avLst/>
          </a:prstGeom>
          <a:noFill/>
        </p:spPr>
        <p:txBody>
          <a:bodyPr wrap="square" rtlCol="0">
            <a:spAutoFit/>
          </a:bodyPr>
          <a:lstStyle/>
          <a:p>
            <a:r>
              <a:rPr lang="en-US" sz="2800" dirty="0" smtClean="0">
                <a:latin typeface="Times New Roman" panose="02020603050405020304" pitchFamily="18" charset="0"/>
                <a:cs typeface="Times New Roman" panose="02020603050405020304" pitchFamily="18" charset="0"/>
              </a:rPr>
              <a:t>Figure 06: Detecting plastic</a:t>
            </a:r>
            <a:endParaRPr lang="en-US" sz="2800" dirty="0">
              <a:latin typeface="Times New Roman" panose="02020603050405020304" pitchFamily="18" charset="0"/>
              <a:cs typeface="Times New Roman" panose="02020603050405020304" pitchFamily="18" charset="0"/>
            </a:endParaRPr>
          </a:p>
        </p:txBody>
      </p:sp>
      <p:sp>
        <p:nvSpPr>
          <p:cNvPr id="55" name="TextBox 54"/>
          <p:cNvSpPr txBox="1"/>
          <p:nvPr/>
        </p:nvSpPr>
        <p:spPr>
          <a:xfrm>
            <a:off x="21573911" y="33930389"/>
            <a:ext cx="3276600" cy="954107"/>
          </a:xfrm>
          <a:prstGeom prst="rect">
            <a:avLst/>
          </a:prstGeom>
          <a:noFill/>
        </p:spPr>
        <p:txBody>
          <a:bodyPr wrap="square" rtlCol="0">
            <a:spAutoFit/>
          </a:bodyPr>
          <a:lstStyle/>
          <a:p>
            <a:r>
              <a:rPr lang="en-US" sz="2800" dirty="0" smtClean="0">
                <a:latin typeface="Times New Roman" panose="02020603050405020304" pitchFamily="18" charset="0"/>
                <a:cs typeface="Times New Roman" panose="02020603050405020304" pitchFamily="18" charset="0"/>
              </a:rPr>
              <a:t>Figure 07: Detecting Paper</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12518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2794</TotalTime>
  <Words>883</Words>
  <Application>Microsoft Office PowerPoint</Application>
  <PresentationFormat>Custom</PresentationFormat>
  <Paragraphs>54</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宋体</vt:lpstr>
      <vt:lpstr>Arial</vt:lpstr>
      <vt:lpstr>Calibri</vt:lpstr>
      <vt:lpstr>Times New Roman</vt:lpstr>
      <vt:lpstr>Office Theme</vt:lpstr>
      <vt:lpstr>PowerPoint Presentation</vt:lpstr>
    </vt:vector>
  </TitlesOfParts>
  <Company>Genigraphics LLC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Genigraphics Research Poster Template 48x36</dc:title>
  <dc:creator>Jay Larson</dc:creator>
  <dc:description>Quality poster printing
www.genigraphics.com
1-800-790-4001</dc:description>
  <cp:lastModifiedBy>Microsoft account</cp:lastModifiedBy>
  <cp:revision>96</cp:revision>
  <cp:lastPrinted>2013-02-12T02:21:55Z</cp:lastPrinted>
  <dcterms:created xsi:type="dcterms:W3CDTF">2013-02-10T21:14:48Z</dcterms:created>
  <dcterms:modified xsi:type="dcterms:W3CDTF">2026-04-14T02:47:56Z</dcterms:modified>
</cp:coreProperties>
</file>